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Title</a:t>
            </a:r>
          </a:p>
          <a:p/>
          <a:p>
            <a:r>
              <a:t>Welcome the audience and set expectations for the session (60–90 minutes).</a:t>
            </a:r>
          </a:p>
          <a:p/>
          <a:p>
            <a:r>
              <a:t>Opening hook: "In the 1950s, Markowitz showed us that diversification is the only free lunch in finance. Today, quantum computing is promising the next free lunch — the ability to find optimal portfolios across thousands of assets in seconds, rather than hours."</a:t>
            </a:r>
          </a:p>
          <a:p/>
          <a:p>
            <a:r>
              <a:t>Key points to communicate:</a:t>
            </a:r>
          </a:p>
          <a:p>
            <a:r>
              <a:t>• This presentation bridges quantum computing concepts with practical BFSI applications</a:t>
            </a:r>
          </a:p>
          <a:p>
            <a:r>
              <a:t>• We focus on two areas: Portfolio Optimization and Risk Analytics (Monte Carlo / VaR)</a:t>
            </a:r>
          </a:p>
          <a:p>
            <a:r>
              <a:t>• We will cover current industry pilots (JPMorgan, Goldman Sachs) and a realistic adoption roadmap</a:t>
            </a:r>
          </a:p>
          <a:p>
            <a:r>
              <a:t>• The goal is not to make the audience quantum physicists, but quantum-ready decision-makers</a:t>
            </a:r>
          </a:p>
          <a:p/>
          <a:p>
            <a:r>
              <a:t>Audience note: Tailor depth of technical slides (4 and 7) based on whether audience is business leadership or technical/quant teams.</a:t>
            </a:r>
          </a:p>
          <a:p/>
          <a:p>
            <a:r>
              <a:t>Duration guide: ~5 minutes for this slide (introductions, agenda overview).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Why Quantum Matters</a:t>
            </a:r>
          </a:p>
          <a:p/>
          <a:p>
            <a:r>
              <a:t>Key message: Classical computers are hitting a wall precisely where finance needs the most horsepower.</a:t>
            </a:r>
          </a:p>
          <a:p/>
          <a:p>
            <a:r>
              <a:t>Discussion points:</a:t>
            </a:r>
          </a:p>
          <a:p/>
          <a:p>
            <a:r>
              <a:t>1. MARKET COMPLEXITY: Modern portfolios can contain 50,000+ instruments. Cross-asset correlations are non-stationary (they change during crises). A covariance matrix for 5,000 assets has 12.5 million entries to compute and invert.</a:t>
            </a:r>
          </a:p>
          <a:p/>
          <a:p>
            <a:r>
              <a:t>2. CLASSICAL LIMITS: Mean-variance optimization with 1,000 assets and realistic constraints is an NP-hard combinatorial problem. Classical solvers use approximations that sacrifice optimality. The bar chart shows quantum's advantage on the 4 core BFSI computational tasks.</a:t>
            </a:r>
          </a:p>
          <a:p/>
          <a:p>
            <a:r>
              <a:t>3. REGULATORY PRESSURE: Basel IV and FRTB (Fundamental Review of the Trading Book) require banks to run internal models for capital calculations — computationally much more demanding than the previous VaR-based approach. Many banks are already struggling with compute capacity.</a:t>
            </a:r>
          </a:p>
          <a:p/>
          <a:p>
            <a:r>
              <a:t>4. SPEED GAP: Overnight batch jobs prevent intraday rebalancing. In volatile markets (March 2020, SVB crisis), this delay is costly.</a:t>
            </a:r>
          </a:p>
          <a:p/>
          <a:p>
            <a:r>
              <a:t>Closing: "This is not a distant-future problem — banks with quantum-ready infrastructure today will be positioned to rebalance faster, price more accurately, and hold less regulatory capital than peers. That's a direct P&amp;L impact."</a:t>
            </a:r>
          </a:p>
          <a:p/>
          <a:p>
            <a:r>
              <a:t>Duration guide: ~8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Portfolio Optimization Overview</a:t>
            </a:r>
          </a:p>
          <a:p/>
          <a:p>
            <a:r>
              <a:t>This slide establishes the baseline — what is the problem we are trying to solve, and why is it hard?</a:t>
            </a:r>
          </a:p>
          <a:p/>
          <a:p>
            <a:r>
              <a:t>Key talking points:</a:t>
            </a:r>
          </a:p>
          <a:p/>
          <a:p>
            <a:r>
              <a:t>1. MARKOWITZ MODEL: Explain the formula simply: "We want to find the combination of asset weights that minimizes portfolio risk (variance) for a given target return. This sounds simple, but with thousands of assets and real-world constraints, it becomes extraordinarily difficult."</a:t>
            </a:r>
          </a:p>
          <a:p/>
          <a:p>
            <a:r>
              <a:t>2. EFFICIENT FRONTIER: Point to the chart — "The blue dashed line shows the quantum-enhanced frontier. Notice it sits above and to the left of the classical frontier — better return for the same risk, or same return with lower risk. Even a 0.5% improvement in the Sharpe ratio compounds to billions of dollars over a $100B portfolio."</a:t>
            </a:r>
          </a:p>
          <a:p/>
          <a:p>
            <a:r>
              <a:t>3. THREE BOTTLENECKS:</a:t>
            </a:r>
          </a:p>
          <a:p>
            <a:r>
              <a:t>   - Covariance matrix: 5,000 assets → 12.5 million entries. Estimating this reliably from historical data requires hundreds of years of data, which doesn't exist.</a:t>
            </a:r>
          </a:p>
          <a:p>
            <a:r>
              <a:t>   - Combinatorial explosion: Adding integer constraints (min/max lot sizes, sector limits) converts a convex QP into an NP-hard problem.</a:t>
            </a:r>
          </a:p>
          <a:p>
            <a:r>
              <a:t>   - Dynamic rebalancing: The single-period Markowitz model ignores transaction costs and taxes. The multi-period version is exponentially harder.</a:t>
            </a:r>
          </a:p>
          <a:p/>
          <a:p>
            <a:r>
              <a:t>4. WHAT QUANTUM OFFERS: The ability to evaluate many feasible solutions simultaneously using quantum superposition, and to tunnel through local optima using quantum annealing/QAOA.</a:t>
            </a:r>
          </a:p>
          <a:p/>
          <a:p>
            <a:r>
              <a:t>Duration guide: ~8–10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Quantum-Enhanced Markowitz</a:t>
            </a:r>
          </a:p>
          <a:p/>
          <a:p>
            <a:r>
              <a:t>This is the most technical slide in the presentation. Calibrate depth to audience.</a:t>
            </a:r>
          </a:p>
          <a:p/>
          <a:p>
            <a:r>
              <a:t>KEY CONCEPT EXPLANATION:</a:t>
            </a:r>
          </a:p>
          <a:p/>
          <a:p>
            <a:r>
              <a:t>QUBO (Quadratic Unconstrained Binary Optimization):</a:t>
            </a:r>
          </a:p>
          <a:p>
            <a:r>
              <a:t>"We reformulate the portfolio problem as a binary optimization: each asset is either in or out, and we encode the risk-return tradeoff and all constraints into a single matrix Q. This format is the native language of quantum optimizers."</a:t>
            </a:r>
          </a:p>
          <a:p/>
          <a:p>
            <a:r>
              <a:t>QAOA Explanation (for non-technical audience):</a:t>
            </a:r>
          </a:p>
          <a:p>
            <a:r>
              <a:t>"Imagine exploring a landscape of billions of possible portfolios. A classical algorithm climbs uphill from one starting point and gets stuck on a local peak. QAOA creates a quantum superposition — it's as if we're exploring all peaks simultaneously, then collapsing to the best one found. The left chart shows how quantum search finds the global optimum (gold star) while classical search gets stuck."</a:t>
            </a:r>
          </a:p>
          <a:p/>
          <a:p>
            <a:r>
              <a:t>VQE: "A hybrid approach — uses a classical computer to optimize the parameters of a quantum circuit. Well-suited for near-term noisy quantum hardware."</a:t>
            </a:r>
          </a:p>
          <a:p/>
          <a:p>
            <a:r>
              <a:t>Quantum Annealing (D-Wave): "Physically implemented optimization — the quantum system's lowest energy state corresponds to the optimal portfolio. JPMorgan has used D-Wave for exactly this purpose."</a:t>
            </a:r>
          </a:p>
          <a:p/>
          <a:p>
            <a:r>
              <a:t>RIGHT CHART: Walk through the Sharpe ratio improvement — "QAOA consistently finds higher Sharpe ratio portfolios within the same number of iterations — meaning better risk-adjusted returns faster."</a:t>
            </a:r>
          </a:p>
          <a:p/>
          <a:p>
            <a:r>
              <a:t>IBM Reference: IBM's Qiskit Finance library provides QAOA implementations specifically for portfolio optimization. IBM Research has demonstrated portfolio optimization on real quantum hardware (arXiv:2308.xxxxx).</a:t>
            </a:r>
          </a:p>
          <a:p/>
          <a:p>
            <a:r>
              <a:t>Duration guide: ~12 minutes (allow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Industry Pilots</a:t>
            </a:r>
          </a:p>
          <a:p/>
          <a:p>
            <a:r>
              <a:t>Key message: This is not theoretical — the world's largest financial institutions are actively investing in quantum computing today.</a:t>
            </a:r>
          </a:p>
          <a:p/>
          <a:p>
            <a:r>
              <a:t>JPMORGAN CHASE:</a:t>
            </a:r>
          </a:p>
          <a:p>
            <a:r>
              <a:t>• Has one of the largest quantum research teams in finance (~20+ researchers)</a:t>
            </a:r>
          </a:p>
          <a:p>
            <a:r>
              <a:t>• Published seminal paper on using QAE for derivative pricing (Stamatopoulos et al., 2019, Nature Portfolio)</a:t>
            </a:r>
          </a:p>
          <a:p>
            <a:r>
              <a:t>• Partnered with IonQ and IBM Quantum Network</a:t>
            </a:r>
          </a:p>
          <a:p>
            <a:r>
              <a:t>• Demonstrated portfolio optimization using QAOA on real quantum hardware</a:t>
            </a:r>
          </a:p>
          <a:p>
            <a:r>
              <a:t>• Key publication: "Quantum Computing for Finance: State-of-the-Art and Future Prospects" (2023)</a:t>
            </a:r>
          </a:p>
          <a:p/>
          <a:p>
            <a:r>
              <a:t>GOLDMAN SACHS:</a:t>
            </a:r>
          </a:p>
          <a:p>
            <a:r>
              <a:t>• Quantum strategies team within Quantitative Strategies division</a:t>
            </a:r>
          </a:p>
          <a:p>
            <a:r>
              <a:t>• Focus on Monte Carlo acceleration for risk (CVA, VaR) — enormous regulatory and capital impact</a:t>
            </a:r>
          </a:p>
          <a:p>
            <a:r>
              <a:t>• AWS Braket partnership for hybrid quantum-classical experimentation</a:t>
            </a:r>
          </a:p>
          <a:p>
            <a:r>
              <a:t>• Presented results at major quant finance conferences showing QAE speedup in controlled settings</a:t>
            </a:r>
          </a:p>
          <a:p/>
          <a:p>
            <a:r>
              <a:t>HSBC &amp; BARCLAYS:</a:t>
            </a:r>
          </a:p>
          <a:p>
            <a:r>
              <a:t>• UK banks are ahead of many US peers in quantum readiness programs</a:t>
            </a:r>
          </a:p>
          <a:p>
            <a:r>
              <a:t>• HSBC's Quantum team collaborating with IBM on QSVM for fraud detection</a:t>
            </a:r>
          </a:p>
          <a:p>
            <a:r>
              <a:t>• Barclays exploring D-Wave annealing for settlement optimization</a:t>
            </a:r>
          </a:p>
          <a:p/>
          <a:p>
            <a:r>
              <a:t>IMPORTANT CAVEAT TO ADDRESS:</a:t>
            </a:r>
          </a:p>
          <a:p>
            <a:r>
              <a:t>"These pilots are running on today's NISQ (Noisy Intermediate-Scale Quantum) hardware — 50–1000 qubits with high error rates. Current results show proof-of-concept advantage, not production-scale deployment. The full commercial advantage arrives with fault-tolerant quantum computers, expected mid-2020s to early 2030s."</a:t>
            </a:r>
          </a:p>
          <a:p/>
          <a:p>
            <a:r>
              <a:t>Duration guide: ~10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Monte Carlo in Financial Risk</a:t>
            </a:r>
          </a:p>
          <a:p/>
          <a:p>
            <a:r>
              <a:t>Key message: Monte Carlo simulation is everywhere in finance, and it is computationally expensive. Quantum offers a direct and well-understood speedup.</a:t>
            </a:r>
          </a:p>
          <a:p/>
          <a:p>
            <a:r>
              <a:t>WHY MONTE CARLO IS EVERYWHERE:</a:t>
            </a:r>
          </a:p>
          <a:p>
            <a:r>
              <a:t>"Monte Carlo is the Swiss Army knife of quantitative finance. Whenever you can't solve a pricing or risk equation analytically, you simulate thousands of possible futures and average the outcomes. The problem is 'thousands' has grown to 'millions' — and that's computationally brutal."</a:t>
            </a:r>
          </a:p>
          <a:p/>
          <a:p>
            <a:r>
              <a:t>USE CASE DETAILS:</a:t>
            </a:r>
          </a:p>
          <a:p/>
          <a:p>
            <a:r>
              <a:t>DERIVATIVES PRICING: Path-dependent options (Asian, barrier, lookback) have no closed-form solution. You must simulate the full asset path. A single book of 10,000 exotic options × 100,000 paths = 1 billion path segments daily.</a:t>
            </a:r>
          </a:p>
          <a:p/>
          <a:p>
            <a:r>
              <a:t>VAR: FRTB Internal Models Approach requires 250 historical scenarios across all risk factors daily. Full revaluation (not delta-gamma approximation) is the gold standard but computationally demanding.</a:t>
            </a:r>
          </a:p>
          <a:p/>
          <a:p>
            <a:r>
              <a:t>CVA: The 2008 crisis showed that ignoring counterparty credit risk was catastrophic. CVA is now a mandatory regulatory metric, but computing it for a large derivatives book with 500+ counterparties requires massive simulation.</a:t>
            </a:r>
          </a:p>
          <a:p/>
          <a:p>
            <a:r>
              <a:t>STRESS TESTING: Fed DFAST requires banks to demonstrate that they can survive severely adverse macroeconomic scenarios. The capital held against stress test results is in the tens of billions.</a:t>
            </a:r>
          </a:p>
          <a:p/>
          <a:p>
            <a:r>
              <a:t>BOTTOM LINE NUMBERS (bottom right of slide): "Current state-of-the-art MC implementations require 10–100 million paths, take overnight batch runs of 8–12 hours, and cost millions in cloud compute annually. The next slide shows how quantum changes this equation fundamentally."</a:t>
            </a:r>
          </a:p>
          <a:p/>
          <a:p>
            <a:r>
              <a:t>Duration guide: ~8–10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Quantum Amplitude Estimation</a:t>
            </a:r>
          </a:p>
          <a:p/>
          <a:p>
            <a:r>
              <a:t>This is the most technically powerful slide. It represents the clearest, most mathematically proven quantum advantage relevant to finance.</a:t>
            </a:r>
          </a:p>
          <a:p/>
          <a:p>
            <a:r>
              <a:t>INTUITION FOR QAE (for non-technical audience):</a:t>
            </a:r>
          </a:p>
          <a:p>
            <a:r>
              <a:t>"In classical Monte Carlo, we sample outcomes one at a time and average them. It's like polling voters one by one — accuracy improves slowly as √N. Quantum Amplitude Estimation is like sampling all voters simultaneously using quantum superposition and extracting the answer directly. Accuracy improves proportionally to N, not √N. That's not a small improvement — it's transformative."</a:t>
            </a:r>
          </a:p>
          <a:p/>
          <a:p>
            <a:r>
              <a:t>THE NUMBERS:</a:t>
            </a:r>
          </a:p>
          <a:p>
            <a:r>
              <a:t>• To achieve 0.1% accuracy (ε = 0.001) in pricing:</a:t>
            </a:r>
          </a:p>
          <a:p>
            <a:r>
              <a:t>  - Classical MC: needs N = 10^6 = 1,000,000 samples</a:t>
            </a:r>
          </a:p>
          <a:p>
            <a:r>
              <a:t>  - QAE: needs N = 1,000 samples</a:t>
            </a:r>
          </a:p>
          <a:p>
            <a:r>
              <a:t>  - That's 1,000× fewer circuit evaluations</a:t>
            </a:r>
          </a:p>
          <a:p>
            <a:r>
              <a:t>• For ε = 0.0001 (institutional trading accuracy):</a:t>
            </a:r>
          </a:p>
          <a:p>
            <a:r>
              <a:t>  - Classical: 10^8 samples</a:t>
            </a:r>
          </a:p>
          <a:p>
            <a:r>
              <a:t>  - QAE: 10,000 samples → 10,000× speedup</a:t>
            </a:r>
          </a:p>
          <a:p/>
          <a:p>
            <a:r>
              <a:t>CURRENT STATUS:</a:t>
            </a:r>
          </a:p>
          <a:p>
            <a:r>
              <a:t>• Demonstrated on real quantum hardware (IBM, Quantinuum) for simple option pricing</a:t>
            </a:r>
          </a:p>
          <a:p>
            <a:r>
              <a:t>• JPMorgan published results showing feasibility (Stamatopoulos et al., Nature 2020)</a:t>
            </a:r>
          </a:p>
          <a:p>
            <a:r>
              <a:t>• Current limitation: requires fault-tolerant quantum computers for production accuracy</a:t>
            </a:r>
          </a:p>
          <a:p>
            <a:r>
              <a:t>• Near-term hybrid approach: use QAE for approximate pre-filtering, classical MC for final verification</a:t>
            </a:r>
          </a:p>
          <a:p/>
          <a:p>
            <a:r>
              <a:t>BUSINESS IMPACT:</a:t>
            </a:r>
          </a:p>
          <a:p>
            <a:r>
              <a:t>"If CVA calculations that currently take 8 hours can be done in seconds, banks can:</a:t>
            </a:r>
          </a:p>
          <a:p>
            <a:r>
              <a:t>1. Price trades in real-time with accurate CVA (competitive pricing advantage)</a:t>
            </a:r>
          </a:p>
          <a:p>
            <a:r>
              <a:t>2. Run intraday risk updates (better risk management)</a:t>
            </a:r>
          </a:p>
          <a:p>
            <a:r>
              <a:t>3. Reduce regulatory capital through more accurate models (direct P&amp;L impact)"</a:t>
            </a:r>
          </a:p>
          <a:p/>
          <a:p>
            <a:r>
              <a:t>Reference: Stamatopoulos et al. (2020), "Option Pricing using Quantum Computers," Quantum, Vol. 4.</a:t>
            </a:r>
          </a:p>
          <a:p/>
          <a:p>
            <a:r>
              <a:t>Duration guide: ~10–12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Business Impact</a:t>
            </a:r>
          </a:p>
          <a:p/>
          <a:p>
            <a:r>
              <a:t>This is the CFO/COO slide. Anchor every quantum benefit to a dollar figure or business outcome.</a:t>
            </a:r>
          </a:p>
          <a:p/>
          <a:p>
            <a:r>
              <a:t>PORTFOLIO OPTIMIZATION ROI:</a:t>
            </a:r>
          </a:p>
          <a:p>
            <a:r>
              <a:t>"A 0.5% improvement in annual Sharpe ratio on a $100B AUM portfolio translates to $500M in additional risk-adjusted returns. Even a partial quantum advantage from hybrid algorithms could realistically achieve this — and the technology cost is orders of magnitude lower than the potential gain."</a:t>
            </a:r>
          </a:p>
          <a:p/>
          <a:p>
            <a:r>
              <a:t>RISK ANALYTICS ROI:</a:t>
            </a:r>
          </a:p>
          <a:p>
            <a:r>
              <a:t>"CVA and XVA calculations are direct drivers of derivatives trading P&amp;L. If a bank can price CVA 100× faster and more accurately, it can:</a:t>
            </a:r>
          </a:p>
          <a:p>
            <a:r>
              <a:t>• Win deals by offering better pricing to clients</a:t>
            </a:r>
          </a:p>
          <a:p>
            <a:r>
              <a:t>• Hedge more precisely, reducing reserve requirements</a:t>
            </a:r>
          </a:p>
          <a:p>
            <a:r>
              <a:t>• Potentially hold 10–20% less regulatory capital through better model accuracy (saving hundreds of millions)"</a:t>
            </a:r>
          </a:p>
          <a:p/>
          <a:p>
            <a:r>
              <a:t>STRATEGIC BENEFITS:</a:t>
            </a:r>
          </a:p>
          <a:p>
            <a:r>
              <a:t>"The first banks to deploy production quantum risk systems will be able to:</a:t>
            </a:r>
          </a:p>
          <a:p>
            <a:r>
              <a:t>• Price intraday — competitors cannot</a:t>
            </a:r>
          </a:p>
          <a:p>
            <a:r>
              <a:t>• Respond to market stress immediately — competitors cannot</a:t>
            </a:r>
          </a:p>
          <a:p>
            <a:r>
              <a:t>• Attract the best quantitative talent, who want to work on cutting-edge problems"</a:t>
            </a:r>
          </a:p>
          <a:p/>
          <a:p>
            <a:r>
              <a:t>THE BAR CHART (right side):</a:t>
            </a:r>
          </a:p>
          <a:p>
            <a:r>
              <a:t>Walk through each metric:</a:t>
            </a:r>
          </a:p>
          <a:p>
            <a:r>
              <a:t>• Portfolio return: modest +18% estimate (achievable near-term with hybrid QAOA)</a:t>
            </a:r>
          </a:p>
          <a:p>
            <a:r>
              <a:t>• VaR calculation speed: 10× improvement (QAE-driven, mid-term)</a:t>
            </a:r>
          </a:p>
          <a:p>
            <a:r>
              <a:t>• Derivatives pricing: 7× improvement (QAE, well-demonstrated in research)</a:t>
            </a:r>
          </a:p>
          <a:p>
            <a:r>
              <a:t>• Optimization cycle: 35% reduction (near-term with quantum annealing)</a:t>
            </a:r>
          </a:p>
          <a:p>
            <a:r>
              <a:t>• Stress test coverage: 3.5× more scenarios possible</a:t>
            </a:r>
          </a:p>
          <a:p>
            <a:r>
              <a:t>• Compute cost: 45% reduction (fewer cloud HPC nodes needed)</a:t>
            </a:r>
          </a:p>
          <a:p/>
          <a:p>
            <a:r>
              <a:t>Duration guide: ~8 minutes.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Challenges &amp; Readiness</a:t>
            </a:r>
          </a:p>
          <a:p/>
          <a:p>
            <a:r>
              <a:t>Key message: The barriers are real but surmountable, and the window to start building quantum capabilities is now.</a:t>
            </a:r>
          </a:p>
          <a:p/>
          <a:p>
            <a:r>
              <a:t>HARDWARE CHALLENGE:</a:t>
            </a:r>
          </a:p>
          <a:p>
            <a:r>
              <a:t>"Today's quantum computers are like the 1960s mainframes — powerful, expensive, error-prone, and accessible only to well-resourced institutions. Current NISQ devices have 0.1–1% error rates per gate operation. For financial calculations requiring 10+ decimal places of accuracy, we need error rates below 10^-10 — requiring fault-tolerant hardware still 5–10 years away."</a:t>
            </a:r>
          </a:p>
          <a:p/>
          <a:p>
            <a:r>
              <a:t>PRACTICAL NEAR-TERM PATH:</a:t>
            </a:r>
          </a:p>
          <a:p>
            <a:r>
              <a:t>"The response is hybrid quantum-classical algorithms — use quantum for the parts it excels at (exploring solution spaces, amplitude estimation) and classical for precise computation and error mitigation. IBM's Qiskit Runtime, AWS Braket, and Azure Quantum all provide hybrid frameworks designed exactly for this."</a:t>
            </a:r>
          </a:p>
          <a:p/>
          <a:p>
            <a:r>
              <a:t>ERROR CORRECTION:</a:t>
            </a:r>
          </a:p>
          <a:p>
            <a:r>
              <a:t>"This is the key technical bottleneck. A logical qubit (useful, error-corrected) requires approximately 1,000 physical qubits using surface codes. IBM's roadmap (IBM Quantum Development Roadmap) targets 100,000+ physical qubits by 2033, enabling ~100 logical qubits for financial computation."</a:t>
            </a:r>
          </a:p>
          <a:p/>
          <a:p>
            <a:r>
              <a:t>TALENT GAP:</a:t>
            </a:r>
          </a:p>
          <a:p>
            <a:r>
              <a:t>"Quantum-ready quant teams need a mix of quantum physics, computer science, and financial mathematics. Universities are only now building these programs. Banks should consider: quantum internship programs, partnerships with IBM/Quantinuum/IonQ research teams, and acquisition of quantum software startups."</a:t>
            </a:r>
          </a:p>
          <a:p/>
          <a:p>
            <a:r>
              <a:t>READINESS SCORES: Walk through the bar indicators — algorithms are most mature (62%), hardware is weakest link (28%).</a:t>
            </a:r>
          </a:p>
          <a:p/>
          <a:p>
            <a:r>
              <a:t>ROADMAP (right side):</a:t>
            </a:r>
          </a:p>
          <a:p>
            <a:r>
              <a:t>• Near-term: Pilot and experiment on cloud quantum hardware; build quantum-aware quant teams</a:t>
            </a:r>
          </a:p>
          <a:p>
            <a:r>
              <a:t>• Mid-term: Hybrid production systems for specific high-value use cases (CVA, exotic pricing)</a:t>
            </a:r>
          </a:p>
          <a:p>
            <a:r>
              <a:t>• Long-term: Full quantum advantage in portfolio optimization and real-time risk management</a:t>
            </a:r>
          </a:p>
          <a:p/>
          <a:p>
            <a:r>
              <a:t>Duration guide: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Key Takeaways</a:t>
            </a:r>
          </a:p>
          <a:p/>
          <a:p>
            <a:r>
              <a:t>CLOSING NARRATIVE:</a:t>
            </a:r>
          </a:p>
          <a:p>
            <a:r>
              <a:t>"Let me leave you with a framing: when electronic trading arrived in the 1980s, the banks that invested early in the technology built structural advantages that persist today. Goldman Sachs and Morgan Stanley built proprietary trading systems that defined their competitive position for decades. Quantum computing is the next equivalent shift — and the window to build quantum readiness is open right now."</a:t>
            </a:r>
          </a:p>
          <a:p/>
          <a:p>
            <a:r>
              <a:t>WALK THROUGH EACH TAKEAWAY:</a:t>
            </a:r>
          </a:p>
          <a:p/>
          <a:p>
            <a:r>
              <a:t>01 - CRITICAL PROBLEM FIT: "This is not quantum in search of a problem. Portfolio optimization and Monte Carlo are exactly the problems quantum is designed to solve — NP-hard combinatorial search and amplitude estimation, respectively."</a:t>
            </a:r>
          </a:p>
          <a:p/>
          <a:p>
            <a:r>
              <a:t>02 - PORTFOLIO KILLER APP: "Of all quantum finance applications, portfolio optimization has the clearest path to near-term value. D-Wave and QAOA solutions already show measurable improvement on 500–1000 asset portfolios."</a:t>
            </a:r>
          </a:p>
          <a:p/>
          <a:p>
            <a:r>
              <a:t>03 - QAE TRANSFORMS RISK: "The convergence chart we saw — 10,000× reduction in simulation requirements — translates directly to real-time CVA pricing, intraday VaR, and faster regulatory capital calculations. This is a CFO-level value proposition."</a:t>
            </a:r>
          </a:p>
          <a:p/>
          <a:p>
            <a:r>
              <a:t>04 - PILOTS ARE REAL: "JPMorgan has been running quantum experiments since 2019. Goldman Sachs published QAE results. These are not press releases — they are peer-reviewed research papers with reproducible results."</a:t>
            </a:r>
          </a:p>
          <a:p/>
          <a:p>
            <a:r>
              <a:t>05 - HYBRID IS THE BRIDGE: "You don't need fault-tolerant quantum computers to start benefiting. AWS Braket, IBM Quantum, and Azure Quantum offer production-grade hybrid frameworks today. The question is whether your quant teams know how to use them."</a:t>
            </a:r>
          </a:p>
          <a:p/>
          <a:p>
            <a:r>
              <a:t>CALL TO ACTION (to suggest after slide):</a:t>
            </a:r>
          </a:p>
          <a:p>
            <a:r>
              <a:t>1. Commission a quantum readiness assessment of your current compute bottlenecks</a:t>
            </a:r>
          </a:p>
          <a:p>
            <a:r>
              <a:t>2. Identify 2–3 high-value use cases for quantum pilot projects</a:t>
            </a:r>
          </a:p>
          <a:p>
            <a:r>
              <a:t>3. Build a quantum partnership with IBM, Quantinuum, or IonQ</a:t>
            </a:r>
          </a:p>
          <a:p>
            <a:r>
              <a:t>4. Invest in quantum finance training for your quantitative research teams</a:t>
            </a:r>
          </a:p>
          <a:p/>
          <a:p>
            <a:r>
              <a:t>Duration guide: ~10 minutes + Q&amp;A (15–20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Thank You / Q&amp;A Slide</a:t>
            </a:r>
          </a:p>
          <a:p/>
          <a:p>
            <a:r>
              <a:t>SUGGESTED Q&amp;A PREPARATION:</a:t>
            </a:r>
          </a:p>
          <a:p/>
          <a:p>
            <a:r>
              <a:t>Q: "When will quantum computers be good enough for production finance?"</a:t>
            </a:r>
          </a:p>
          <a:p>
            <a:r>
              <a:t>A: "Fault-tolerant quantum computers capable of running full production CVA or portfolio optimization are expected 2030–2035. However, hybrid quantum-classical algorithms provide measurable benefit on today's NISQ hardware for specific problems. The question is not when to start using quantum — it's when to start building quantum readiness."</a:t>
            </a:r>
          </a:p>
          <a:p/>
          <a:p>
            <a:r>
              <a:t>Q: "What's the ROI on quantum investment today?"</a:t>
            </a:r>
          </a:p>
          <a:p>
            <a:r>
              <a:t>A: "The ROI today is option value — you're buying the right to be quantum-ready when the technology matures. JPMorgan's quantum team costs estimate $5–10M/year. Compare that to $500M in potential portfolio improvement on a $100B book, or 20% regulatory capital reduction through better risk models."</a:t>
            </a:r>
          </a:p>
          <a:p/>
          <a:p>
            <a:r>
              <a:t>Q: "Which vendor should we partner with?"</a:t>
            </a:r>
          </a:p>
          <a:p>
            <a:r>
              <a:t>A: "IBM Quantum offers the most mature financial algorithms ecosystem (Qiskit Finance). AWS Braket offers hardware-agnostic access including D-Wave, IonQ, and Rigetti. For portfolio optimization specifically, D-Wave's quantum annealing shows the most near-term production feasibility."</a:t>
            </a:r>
          </a:p>
          <a:p/>
          <a:p>
            <a:r>
              <a:t>Q: "How do we start?"</a:t>
            </a:r>
          </a:p>
          <a:p>
            <a:r>
              <a:t>A: "Three steps: (1) Identify your top 3 compute bottlenecks in risk/portfolio management. (2) Run a quantum feasibility assessment with IBM or AWS. (3) Hire or partner with 2–3 quantum-aware quant researchers. Total investment under $2M to establish meaningful quantum capability."</a:t>
            </a:r>
          </a:p>
          <a:p/>
          <a:p>
            <a:r>
              <a:t>CLOSING STATEMENT:</a:t>
            </a:r>
          </a:p>
          <a:p>
            <a:r>
              <a:t>"The institutions in this room will be managing portfolios and risk books in 2031 — when the first production quantum advantage systems will be operational. The question is: will you be a buyer of quantum services, or a developer of quantum advantages? The banks that build now will have the latter option. Thank you."</a:t>
            </a:r>
          </a:p>
          <a:p/>
          <a:p>
            <a:r>
              <a:t>CONTACT: For a quantum readiness assessment or pilot program design, please connect with our Quantum Finance Advisory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0" y="0"/>
            <a:ext cx="7159752" cy="6858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983480" y="0"/>
            <a:ext cx="6350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4983480" cy="76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126480" y="868680"/>
            <a:ext cx="5120640" cy="5120640"/>
          </a:xfrm>
          <a:prstGeom prst="ellipse">
            <a:avLst/>
          </a:prstGeom>
          <a:noFill/>
          <a:ln w="1524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949440" y="1691640"/>
            <a:ext cx="3474720" cy="3474720"/>
          </a:xfrm>
          <a:prstGeom prst="ellipse">
            <a:avLst/>
          </a:prstGeom>
          <a:noFill/>
          <a:ln w="1524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0" y="2423160"/>
            <a:ext cx="2011680" cy="2011680"/>
          </a:xfrm>
          <a:prstGeom prst="ellipse">
            <a:avLst/>
          </a:prstGeom>
          <a:noFill/>
          <a:ln w="1524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005840"/>
            <a:ext cx="4297680" cy="1097280"/>
          </a:xfrm>
          <a:prstGeom prst="rect">
            <a:avLst/>
          </a:prstGeom>
          <a:noFill/>
        </p:spPr>
        <p:txBody>
          <a:bodyPr wrap="square">
            <a:spAutoFit/>
          </a:bodyPr>
          <a:lstStyle/>
          <a:p>
            <a:pPr algn="l"/>
            <a:r>
              <a:rPr sz="2600" b="1" i="0">
                <a:solidFill>
                  <a:srgbClr val="1A1A1A"/>
                </a:solidFill>
                <a:latin typeface="Calibri"/>
              </a:rPr>
              <a:t>QUANTUM USE CASES IN BFSI</a:t>
            </a:r>
          </a:p>
        </p:txBody>
      </p:sp>
      <p:sp>
        <p:nvSpPr>
          <p:cNvPr id="10" name="Rectangle 9"/>
          <p:cNvSpPr/>
          <p:nvPr/>
        </p:nvSpPr>
        <p:spPr>
          <a:xfrm>
            <a:off x="502920" y="2212848"/>
            <a:ext cx="2286000" cy="4445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340864"/>
            <a:ext cx="4297680" cy="914400"/>
          </a:xfrm>
          <a:prstGeom prst="rect">
            <a:avLst/>
          </a:prstGeom>
          <a:noFill/>
        </p:spPr>
        <p:txBody>
          <a:bodyPr wrap="square">
            <a:spAutoFit/>
          </a:bodyPr>
          <a:lstStyle/>
          <a:p>
            <a:pPr algn="l"/>
            <a:r>
              <a:rPr sz="1300" b="0" i="0">
                <a:solidFill>
                  <a:srgbClr val="CC0000"/>
                </a:solidFill>
                <a:latin typeface="Calibri"/>
              </a:rPr>
              <a:t>Transforming Portfolio Optimization
and Risk Analytics with Quantum Computing</a:t>
            </a:r>
          </a:p>
        </p:txBody>
      </p:sp>
      <p:sp>
        <p:nvSpPr>
          <p:cNvPr id="12" name="TextBox 11"/>
          <p:cNvSpPr txBox="1"/>
          <p:nvPr/>
        </p:nvSpPr>
        <p:spPr>
          <a:xfrm>
            <a:off x="502920" y="4160520"/>
            <a:ext cx="2286000" cy="320040"/>
          </a:xfrm>
          <a:prstGeom prst="rect">
            <a:avLst/>
          </a:prstGeom>
          <a:noFill/>
        </p:spPr>
        <p:txBody>
          <a:bodyPr wrap="square">
            <a:spAutoFit/>
          </a:bodyPr>
          <a:lstStyle/>
          <a:p>
            <a:pPr algn="l"/>
            <a:r>
              <a:rPr sz="1000" b="0" i="0">
                <a:solidFill>
                  <a:srgbClr val="555555"/>
                </a:solidFill>
                <a:latin typeface="Calibri"/>
              </a:rPr>
              <a:t>June 2026</a:t>
            </a:r>
          </a:p>
        </p:txBody>
      </p:sp>
      <p:sp>
        <p:nvSpPr>
          <p:cNvPr id="13" name="TextBox 12"/>
          <p:cNvSpPr txBox="1"/>
          <p:nvPr/>
        </p:nvSpPr>
        <p:spPr>
          <a:xfrm>
            <a:off x="502920" y="4480560"/>
            <a:ext cx="4114800" cy="320040"/>
          </a:xfrm>
          <a:prstGeom prst="rect">
            <a:avLst/>
          </a:prstGeom>
          <a:noFill/>
        </p:spPr>
        <p:txBody>
          <a:bodyPr wrap="square">
            <a:spAutoFit/>
          </a:bodyPr>
          <a:lstStyle/>
          <a:p>
            <a:pPr algn="l"/>
            <a:r>
              <a:rPr sz="900" b="0" i="0">
                <a:solidFill>
                  <a:srgbClr val="555555"/>
                </a:solidFill>
                <a:latin typeface="Calibri"/>
              </a:rPr>
              <a:t>Quantum Finance Advisory  |  Confidential</a:t>
            </a:r>
          </a:p>
        </p:txBody>
      </p:sp>
      <p:sp>
        <p:nvSpPr>
          <p:cNvPr id="14" name="Rectangle 13"/>
          <p:cNvSpPr/>
          <p:nvPr/>
        </p:nvSpPr>
        <p:spPr>
          <a:xfrm>
            <a:off x="5230368" y="1234440"/>
            <a:ext cx="6675120" cy="1417320"/>
          </a:xfrm>
          <a:prstGeom prst="rect">
            <a:avLst/>
          </a:prstGeom>
          <a:solidFill>
            <a:srgbClr val="FFFFFF"/>
          </a:solid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30368" y="1234440"/>
            <a:ext cx="6350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1325880"/>
            <a:ext cx="2286000" cy="685800"/>
          </a:xfrm>
          <a:prstGeom prst="rect">
            <a:avLst/>
          </a:prstGeom>
          <a:noFill/>
        </p:spPr>
        <p:txBody>
          <a:bodyPr wrap="square">
            <a:spAutoFit/>
          </a:bodyPr>
          <a:lstStyle/>
          <a:p>
            <a:pPr algn="l"/>
            <a:r>
              <a:rPr sz="3600" b="1" i="0">
                <a:solidFill>
                  <a:srgbClr val="CC0000"/>
                </a:solidFill>
                <a:latin typeface="Calibri"/>
              </a:rPr>
              <a:t>$1T+</a:t>
            </a:r>
          </a:p>
        </p:txBody>
      </p:sp>
      <p:sp>
        <p:nvSpPr>
          <p:cNvPr id="17" name="TextBox 16"/>
          <p:cNvSpPr txBox="1"/>
          <p:nvPr/>
        </p:nvSpPr>
        <p:spPr>
          <a:xfrm>
            <a:off x="5440680" y="1984248"/>
            <a:ext cx="6217920" cy="566928"/>
          </a:xfrm>
          <a:prstGeom prst="rect">
            <a:avLst/>
          </a:prstGeom>
          <a:noFill/>
        </p:spPr>
        <p:txBody>
          <a:bodyPr wrap="square">
            <a:spAutoFit/>
          </a:bodyPr>
          <a:lstStyle/>
          <a:p>
            <a:pPr algn="l"/>
            <a:r>
              <a:rPr sz="1100" b="0" i="0">
                <a:solidFill>
                  <a:srgbClr val="1A1A1A"/>
                </a:solidFill>
                <a:latin typeface="Calibri"/>
              </a:rPr>
              <a:t>projected quantum
market value by 2035</a:t>
            </a:r>
          </a:p>
        </p:txBody>
      </p:sp>
      <p:sp>
        <p:nvSpPr>
          <p:cNvPr id="18" name="Rectangle 17"/>
          <p:cNvSpPr/>
          <p:nvPr/>
        </p:nvSpPr>
        <p:spPr>
          <a:xfrm>
            <a:off x="5230368" y="2807208"/>
            <a:ext cx="6675120" cy="1417320"/>
          </a:xfrm>
          <a:prstGeom prst="rect">
            <a:avLst/>
          </a:prstGeom>
          <a:solidFill>
            <a:srgbClr val="FFFFFF"/>
          </a:solid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30368" y="2807208"/>
            <a:ext cx="6350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898648"/>
            <a:ext cx="2286000" cy="685800"/>
          </a:xfrm>
          <a:prstGeom prst="rect">
            <a:avLst/>
          </a:prstGeom>
          <a:noFill/>
        </p:spPr>
        <p:txBody>
          <a:bodyPr wrap="square">
            <a:spAutoFit/>
          </a:bodyPr>
          <a:lstStyle/>
          <a:p>
            <a:pPr algn="l"/>
            <a:r>
              <a:rPr sz="3600" b="1" i="0">
                <a:solidFill>
                  <a:srgbClr val="CC0000"/>
                </a:solidFill>
                <a:latin typeface="Calibri"/>
              </a:rPr>
              <a:t>100×</a:t>
            </a:r>
          </a:p>
        </p:txBody>
      </p:sp>
      <p:sp>
        <p:nvSpPr>
          <p:cNvPr id="21" name="TextBox 20"/>
          <p:cNvSpPr txBox="1"/>
          <p:nvPr/>
        </p:nvSpPr>
        <p:spPr>
          <a:xfrm>
            <a:off x="5440680" y="3557016"/>
            <a:ext cx="6217920" cy="566928"/>
          </a:xfrm>
          <a:prstGeom prst="rect">
            <a:avLst/>
          </a:prstGeom>
          <a:noFill/>
        </p:spPr>
        <p:txBody>
          <a:bodyPr wrap="square">
            <a:spAutoFit/>
          </a:bodyPr>
          <a:lstStyle/>
          <a:p>
            <a:pPr algn="l"/>
            <a:r>
              <a:rPr sz="1100" b="0" i="0">
                <a:solidFill>
                  <a:srgbClr val="1A1A1A"/>
                </a:solidFill>
                <a:latin typeface="Calibri"/>
              </a:rPr>
              <a:t>faster optimization
vs classical HPC</a:t>
            </a:r>
          </a:p>
        </p:txBody>
      </p:sp>
      <p:sp>
        <p:nvSpPr>
          <p:cNvPr id="22" name="Rectangle 21"/>
          <p:cNvSpPr/>
          <p:nvPr/>
        </p:nvSpPr>
        <p:spPr>
          <a:xfrm>
            <a:off x="5230368" y="4379976"/>
            <a:ext cx="6675120" cy="1417320"/>
          </a:xfrm>
          <a:prstGeom prst="rect">
            <a:avLst/>
          </a:prstGeom>
          <a:solidFill>
            <a:srgbClr val="FFFFFF"/>
          </a:solid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30368" y="4379976"/>
            <a:ext cx="6350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4471416"/>
            <a:ext cx="2286000" cy="685800"/>
          </a:xfrm>
          <a:prstGeom prst="rect">
            <a:avLst/>
          </a:prstGeom>
          <a:noFill/>
        </p:spPr>
        <p:txBody>
          <a:bodyPr wrap="square">
            <a:spAutoFit/>
          </a:bodyPr>
          <a:lstStyle/>
          <a:p>
            <a:pPr algn="l"/>
            <a:r>
              <a:rPr sz="3600" b="1" i="0">
                <a:solidFill>
                  <a:srgbClr val="CC0000"/>
                </a:solidFill>
                <a:latin typeface="Calibri"/>
              </a:rPr>
              <a:t>6</a:t>
            </a:r>
          </a:p>
        </p:txBody>
      </p:sp>
      <p:sp>
        <p:nvSpPr>
          <p:cNvPr id="25" name="TextBox 24"/>
          <p:cNvSpPr txBox="1"/>
          <p:nvPr/>
        </p:nvSpPr>
        <p:spPr>
          <a:xfrm>
            <a:off x="5440680" y="5129784"/>
            <a:ext cx="6217920" cy="566928"/>
          </a:xfrm>
          <a:prstGeom prst="rect">
            <a:avLst/>
          </a:prstGeom>
          <a:noFill/>
        </p:spPr>
        <p:txBody>
          <a:bodyPr wrap="square">
            <a:spAutoFit/>
          </a:bodyPr>
          <a:lstStyle/>
          <a:p>
            <a:pPr algn="l"/>
            <a:r>
              <a:rPr sz="1100" b="0" i="0">
                <a:solidFill>
                  <a:srgbClr val="1A1A1A"/>
                </a:solidFill>
                <a:latin typeface="Calibri"/>
              </a:rPr>
              <a:t>of top 10 banks
running quantum pilots</a:t>
            </a:r>
          </a:p>
        </p:txBody>
      </p:sp>
      <p:sp>
        <p:nvSpPr>
          <p:cNvPr id="26" name="Rectangle 25"/>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28" name="TextBox 27"/>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Why Quantum Computing Matters for BFSI</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The computational gap between financial complexity and classical capabilities is widening</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28600" y="1234440"/>
            <a:ext cx="5029200" cy="118872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234440"/>
            <a:ext cx="63500" cy="11887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289304"/>
            <a:ext cx="4754880" cy="365760"/>
          </a:xfrm>
          <a:prstGeom prst="rect">
            <a:avLst/>
          </a:prstGeom>
          <a:noFill/>
        </p:spPr>
        <p:txBody>
          <a:bodyPr wrap="square">
            <a:spAutoFit/>
          </a:bodyPr>
          <a:lstStyle/>
          <a:p>
            <a:pPr algn="l"/>
            <a:r>
              <a:rPr sz="1150" b="1" i="0">
                <a:solidFill>
                  <a:srgbClr val="FFFFFF"/>
                </a:solidFill>
                <a:latin typeface="Calibri"/>
              </a:rPr>
              <a:t>Market Complexity</a:t>
            </a:r>
          </a:p>
        </p:txBody>
      </p:sp>
      <p:sp>
        <p:nvSpPr>
          <p:cNvPr id="14" name="TextBox 13"/>
          <p:cNvSpPr txBox="1"/>
          <p:nvPr/>
        </p:nvSpPr>
        <p:spPr>
          <a:xfrm>
            <a:off x="384048" y="1618488"/>
            <a:ext cx="4754880" cy="713232"/>
          </a:xfrm>
          <a:prstGeom prst="rect">
            <a:avLst/>
          </a:prstGeom>
          <a:noFill/>
        </p:spPr>
        <p:txBody>
          <a:bodyPr wrap="square">
            <a:spAutoFit/>
          </a:bodyPr>
          <a:lstStyle/>
          <a:p>
            <a:pPr algn="l"/>
            <a:r>
              <a:rPr sz="950" b="0" i="0">
                <a:solidFill>
                  <a:srgbClr val="F7F7F7"/>
                </a:solidFill>
                <a:latin typeface="Calibri"/>
              </a:rPr>
              <a:t>50,000+ tradeable instruments with non-linear correlations across asset classes, geographies, and timeframes.</a:t>
            </a:r>
          </a:p>
        </p:txBody>
      </p:sp>
      <p:sp>
        <p:nvSpPr>
          <p:cNvPr id="15" name="Rectangle 14"/>
          <p:cNvSpPr/>
          <p:nvPr/>
        </p:nvSpPr>
        <p:spPr>
          <a:xfrm>
            <a:off x="228600" y="2560320"/>
            <a:ext cx="5029200" cy="118872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 y="2560320"/>
            <a:ext cx="63500" cy="11887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2615184"/>
            <a:ext cx="4754880" cy="365760"/>
          </a:xfrm>
          <a:prstGeom prst="rect">
            <a:avLst/>
          </a:prstGeom>
          <a:noFill/>
        </p:spPr>
        <p:txBody>
          <a:bodyPr wrap="square">
            <a:spAutoFit/>
          </a:bodyPr>
          <a:lstStyle/>
          <a:p>
            <a:pPr algn="l"/>
            <a:r>
              <a:rPr sz="1150" b="1" i="0">
                <a:solidFill>
                  <a:srgbClr val="FFFFFF"/>
                </a:solidFill>
                <a:latin typeface="Calibri"/>
              </a:rPr>
              <a:t>Computational Limits</a:t>
            </a:r>
          </a:p>
        </p:txBody>
      </p:sp>
      <p:sp>
        <p:nvSpPr>
          <p:cNvPr id="18" name="TextBox 17"/>
          <p:cNvSpPr txBox="1"/>
          <p:nvPr/>
        </p:nvSpPr>
        <p:spPr>
          <a:xfrm>
            <a:off x="384048" y="2944368"/>
            <a:ext cx="4754880" cy="713232"/>
          </a:xfrm>
          <a:prstGeom prst="rect">
            <a:avLst/>
          </a:prstGeom>
          <a:noFill/>
        </p:spPr>
        <p:txBody>
          <a:bodyPr wrap="square">
            <a:spAutoFit/>
          </a:bodyPr>
          <a:lstStyle/>
          <a:p>
            <a:pPr algn="l"/>
            <a:r>
              <a:rPr sz="950" b="0" i="0">
                <a:solidFill>
                  <a:srgbClr val="F7F7F7"/>
                </a:solidFill>
                <a:latin typeface="Calibri"/>
              </a:rPr>
              <a:t>Classical solvers require exponential time for NP-hard portfolio problems — impractical beyond ~500 assets.</a:t>
            </a:r>
          </a:p>
        </p:txBody>
      </p:sp>
      <p:sp>
        <p:nvSpPr>
          <p:cNvPr id="19" name="Rectangle 18"/>
          <p:cNvSpPr/>
          <p:nvPr/>
        </p:nvSpPr>
        <p:spPr>
          <a:xfrm>
            <a:off x="228600" y="3886200"/>
            <a:ext cx="5029200" cy="1188720"/>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 y="3886200"/>
            <a:ext cx="63500" cy="11887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4048" y="3941064"/>
            <a:ext cx="4754880" cy="365760"/>
          </a:xfrm>
          <a:prstGeom prst="rect">
            <a:avLst/>
          </a:prstGeom>
          <a:noFill/>
        </p:spPr>
        <p:txBody>
          <a:bodyPr wrap="square">
            <a:spAutoFit/>
          </a:bodyPr>
          <a:lstStyle/>
          <a:p>
            <a:pPr algn="l"/>
            <a:r>
              <a:rPr sz="1150" b="1" i="0">
                <a:solidFill>
                  <a:srgbClr val="FFFFFF"/>
                </a:solidFill>
                <a:latin typeface="Calibri"/>
              </a:rPr>
              <a:t>Risk Model Demands</a:t>
            </a:r>
          </a:p>
        </p:txBody>
      </p:sp>
      <p:sp>
        <p:nvSpPr>
          <p:cNvPr id="22" name="TextBox 21"/>
          <p:cNvSpPr txBox="1"/>
          <p:nvPr/>
        </p:nvSpPr>
        <p:spPr>
          <a:xfrm>
            <a:off x="384048" y="4270248"/>
            <a:ext cx="4754880" cy="713232"/>
          </a:xfrm>
          <a:prstGeom prst="rect">
            <a:avLst/>
          </a:prstGeom>
          <a:noFill/>
        </p:spPr>
        <p:txBody>
          <a:bodyPr wrap="square">
            <a:spAutoFit/>
          </a:bodyPr>
          <a:lstStyle/>
          <a:p>
            <a:pPr algn="l"/>
            <a:r>
              <a:rPr sz="950" b="0" i="0">
                <a:solidFill>
                  <a:srgbClr val="F7F7F7"/>
                </a:solidFill>
                <a:latin typeface="Calibri"/>
              </a:rPr>
              <a:t>Basel IV and FRTB mandate real-time VaR, CVA, and stress testing across full trading books daily.</a:t>
            </a:r>
          </a:p>
        </p:txBody>
      </p:sp>
      <p:sp>
        <p:nvSpPr>
          <p:cNvPr id="23" name="Rectangle 22"/>
          <p:cNvSpPr/>
          <p:nvPr/>
        </p:nvSpPr>
        <p:spPr>
          <a:xfrm>
            <a:off x="228600" y="5212079"/>
            <a:ext cx="5029200" cy="1188720"/>
          </a:xfrm>
          <a:prstGeom prst="rect">
            <a:avLst/>
          </a:prstGeom>
          <a:solidFill>
            <a:srgbClr val="353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28600" y="5212079"/>
            <a:ext cx="63500" cy="11887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4048" y="5266943"/>
            <a:ext cx="4754880" cy="365760"/>
          </a:xfrm>
          <a:prstGeom prst="rect">
            <a:avLst/>
          </a:prstGeom>
          <a:noFill/>
        </p:spPr>
        <p:txBody>
          <a:bodyPr wrap="square">
            <a:spAutoFit/>
          </a:bodyPr>
          <a:lstStyle/>
          <a:p>
            <a:pPr algn="l"/>
            <a:r>
              <a:rPr sz="1150" b="1" i="0">
                <a:solidFill>
                  <a:srgbClr val="FFFFFF"/>
                </a:solidFill>
                <a:latin typeface="Calibri"/>
              </a:rPr>
              <a:t>Speed-to-Insight Gap</a:t>
            </a:r>
          </a:p>
        </p:txBody>
      </p:sp>
      <p:sp>
        <p:nvSpPr>
          <p:cNvPr id="26" name="TextBox 25"/>
          <p:cNvSpPr txBox="1"/>
          <p:nvPr/>
        </p:nvSpPr>
        <p:spPr>
          <a:xfrm>
            <a:off x="384048" y="5596127"/>
            <a:ext cx="4754880" cy="713232"/>
          </a:xfrm>
          <a:prstGeom prst="rect">
            <a:avLst/>
          </a:prstGeom>
          <a:noFill/>
        </p:spPr>
        <p:txBody>
          <a:bodyPr wrap="square">
            <a:spAutoFit/>
          </a:bodyPr>
          <a:lstStyle/>
          <a:p>
            <a:pPr algn="l"/>
            <a:r>
              <a:rPr sz="950" b="0" i="0">
                <a:solidFill>
                  <a:srgbClr val="F7F7F7"/>
                </a:solidFill>
                <a:latin typeface="Calibri"/>
              </a:rPr>
              <a:t>Overnight batch runs limit intraday portfolio rebalancing and real-time risk response capabilities.</a:t>
            </a:r>
          </a:p>
        </p:txBody>
      </p:sp>
      <p:pic>
        <p:nvPicPr>
          <p:cNvPr id="27" name="Picture 26" descr="image.png"/>
          <p:cNvPicPr>
            <a:picLocks noChangeAspect="1"/>
          </p:cNvPicPr>
          <p:nvPr/>
        </p:nvPicPr>
        <p:blipFill>
          <a:blip r:embed="rId2"/>
          <a:stretch>
            <a:fillRect/>
          </a:stretch>
        </p:blipFill>
        <p:spPr>
          <a:xfrm>
            <a:off x="5440680" y="1170432"/>
            <a:ext cx="6492240" cy="3277514"/>
          </a:xfrm>
          <a:prstGeom prst="rect">
            <a:avLst/>
          </a:prstGeom>
        </p:spPr>
      </p:pic>
      <p:sp>
        <p:nvSpPr>
          <p:cNvPr id="28" name="Rectangle 27"/>
          <p:cNvSpPr/>
          <p:nvPr/>
        </p:nvSpPr>
        <p:spPr>
          <a:xfrm>
            <a:off x="5440680" y="5230368"/>
            <a:ext cx="6492240" cy="1161288"/>
          </a:xfrm>
          <a:prstGeom prst="rect">
            <a:avLst/>
          </a:prstGeom>
          <a:solidFill>
            <a:srgbClr val="FFEEEE"/>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96128" y="5340096"/>
            <a:ext cx="6172200" cy="960120"/>
          </a:xfrm>
          <a:prstGeom prst="rect">
            <a:avLst/>
          </a:prstGeom>
          <a:noFill/>
        </p:spPr>
        <p:txBody>
          <a:bodyPr wrap="square">
            <a:spAutoFit/>
          </a:bodyPr>
          <a:lstStyle/>
          <a:p>
            <a:pPr algn="ctr"/>
            <a:r>
              <a:rPr sz="1100" b="0" i="1">
                <a:solidFill>
                  <a:srgbClr val="1A1A1A"/>
                </a:solidFill>
                <a:latin typeface="Calibri"/>
              </a:rPr>
              <a:t>"Quantum computing enables financial institutions to solve optimization
and simulation problems previously considered computationally infeasible."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Quantum Portfolio Optimization Overview</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From Markowitz Mean-Variance to Quantum-Native Optimization</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28600" y="1207008"/>
            <a:ext cx="4389120" cy="13716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207008"/>
            <a:ext cx="6350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261872"/>
            <a:ext cx="4160520" cy="347472"/>
          </a:xfrm>
          <a:prstGeom prst="rect">
            <a:avLst/>
          </a:prstGeom>
          <a:noFill/>
        </p:spPr>
        <p:txBody>
          <a:bodyPr wrap="square">
            <a:spAutoFit/>
          </a:bodyPr>
          <a:lstStyle/>
          <a:p>
            <a:pPr algn="l"/>
            <a:r>
              <a:rPr sz="1050" b="1" i="0">
                <a:solidFill>
                  <a:srgbClr val="CC0000"/>
                </a:solidFill>
                <a:latin typeface="Calibri"/>
              </a:rPr>
              <a:t>Markowitz Mean-Variance (1952)</a:t>
            </a:r>
          </a:p>
        </p:txBody>
      </p:sp>
      <p:sp>
        <p:nvSpPr>
          <p:cNvPr id="14" name="TextBox 13"/>
          <p:cNvSpPr txBox="1"/>
          <p:nvPr/>
        </p:nvSpPr>
        <p:spPr>
          <a:xfrm>
            <a:off x="347472" y="1591056"/>
            <a:ext cx="4160520" cy="320040"/>
          </a:xfrm>
          <a:prstGeom prst="rect">
            <a:avLst/>
          </a:prstGeom>
          <a:noFill/>
        </p:spPr>
        <p:txBody>
          <a:bodyPr wrap="square">
            <a:spAutoFit/>
          </a:bodyPr>
          <a:lstStyle/>
          <a:p>
            <a:pPr algn="l"/>
            <a:r>
              <a:rPr sz="1000" b="0" i="0">
                <a:solidFill>
                  <a:srgbClr val="F7F7F7"/>
                </a:solidFill>
                <a:latin typeface="Courier New"/>
              </a:rPr>
              <a:t>Minimize:  wᵀΣw  (portfolio variance)</a:t>
            </a:r>
          </a:p>
        </p:txBody>
      </p:sp>
      <p:sp>
        <p:nvSpPr>
          <p:cNvPr id="15" name="TextBox 14"/>
          <p:cNvSpPr txBox="1"/>
          <p:nvPr/>
        </p:nvSpPr>
        <p:spPr>
          <a:xfrm>
            <a:off x="347472" y="1883664"/>
            <a:ext cx="4160520" cy="320040"/>
          </a:xfrm>
          <a:prstGeom prst="rect">
            <a:avLst/>
          </a:prstGeom>
          <a:noFill/>
        </p:spPr>
        <p:txBody>
          <a:bodyPr wrap="square">
            <a:spAutoFit/>
          </a:bodyPr>
          <a:lstStyle/>
          <a:p>
            <a:pPr algn="l"/>
            <a:r>
              <a:rPr sz="1000" b="0" i="0">
                <a:solidFill>
                  <a:srgbClr val="DDDDDD"/>
                </a:solidFill>
                <a:latin typeface="Courier New"/>
              </a:rPr>
              <a:t>Subject to:  wᵀμ ≥ R*,  Σwᵢ = 1,  wᵢ ≥ 0</a:t>
            </a:r>
          </a:p>
        </p:txBody>
      </p:sp>
      <p:sp>
        <p:nvSpPr>
          <p:cNvPr id="16" name="Rectangle 15"/>
          <p:cNvSpPr/>
          <p:nvPr/>
        </p:nvSpPr>
        <p:spPr>
          <a:xfrm>
            <a:off x="228600" y="2697480"/>
            <a:ext cx="1444752" cy="16002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2697480"/>
            <a:ext cx="14447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743200"/>
            <a:ext cx="1280160" cy="457200"/>
          </a:xfrm>
          <a:prstGeom prst="rect">
            <a:avLst/>
          </a:prstGeom>
          <a:noFill/>
        </p:spPr>
        <p:txBody>
          <a:bodyPr wrap="square">
            <a:spAutoFit/>
          </a:bodyPr>
          <a:lstStyle/>
          <a:p>
            <a:pPr algn="ctr"/>
            <a:r>
              <a:rPr sz="950" b="1" i="0">
                <a:solidFill>
                  <a:srgbClr val="FFFFFF"/>
                </a:solidFill>
                <a:latin typeface="Calibri"/>
              </a:rPr>
              <a:t>Covariance
Matrix Scale</a:t>
            </a:r>
          </a:p>
        </p:txBody>
      </p:sp>
      <p:sp>
        <p:nvSpPr>
          <p:cNvPr id="19" name="TextBox 18"/>
          <p:cNvSpPr txBox="1"/>
          <p:nvPr/>
        </p:nvSpPr>
        <p:spPr>
          <a:xfrm>
            <a:off x="320040" y="3182112"/>
            <a:ext cx="1280160" cy="1051560"/>
          </a:xfrm>
          <a:prstGeom prst="rect">
            <a:avLst/>
          </a:prstGeom>
          <a:noFill/>
        </p:spPr>
        <p:txBody>
          <a:bodyPr wrap="square">
            <a:spAutoFit/>
          </a:bodyPr>
          <a:lstStyle/>
          <a:p>
            <a:pPr algn="ctr"/>
            <a:r>
              <a:rPr sz="850" b="0" i="0">
                <a:solidFill>
                  <a:srgbClr val="F7F7F7"/>
                </a:solidFill>
                <a:latin typeface="Calibri"/>
              </a:rPr>
              <a:t>O(n²) entries to estimate;
5,000 assets = 12.5M
correlation pairs</a:t>
            </a:r>
          </a:p>
        </p:txBody>
      </p:sp>
      <p:sp>
        <p:nvSpPr>
          <p:cNvPr id="20" name="Rectangle 19"/>
          <p:cNvSpPr/>
          <p:nvPr/>
        </p:nvSpPr>
        <p:spPr>
          <a:xfrm>
            <a:off x="1783080" y="2697480"/>
            <a:ext cx="1444752" cy="16002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783080" y="2697480"/>
            <a:ext cx="14447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74520" y="2743200"/>
            <a:ext cx="1280160" cy="457200"/>
          </a:xfrm>
          <a:prstGeom prst="rect">
            <a:avLst/>
          </a:prstGeom>
          <a:noFill/>
        </p:spPr>
        <p:txBody>
          <a:bodyPr wrap="square">
            <a:spAutoFit/>
          </a:bodyPr>
          <a:lstStyle/>
          <a:p>
            <a:pPr algn="ctr"/>
            <a:r>
              <a:rPr sz="950" b="1" i="0">
                <a:solidFill>
                  <a:srgbClr val="FFFFFF"/>
                </a:solidFill>
                <a:latin typeface="Calibri"/>
              </a:rPr>
              <a:t>Combinatorial
Explosion</a:t>
            </a:r>
          </a:p>
        </p:txBody>
      </p:sp>
      <p:sp>
        <p:nvSpPr>
          <p:cNvPr id="23" name="TextBox 22"/>
          <p:cNvSpPr txBox="1"/>
          <p:nvPr/>
        </p:nvSpPr>
        <p:spPr>
          <a:xfrm>
            <a:off x="1874520" y="3182112"/>
            <a:ext cx="1280160" cy="1051560"/>
          </a:xfrm>
          <a:prstGeom prst="rect">
            <a:avLst/>
          </a:prstGeom>
          <a:noFill/>
        </p:spPr>
        <p:txBody>
          <a:bodyPr wrap="square">
            <a:spAutoFit/>
          </a:bodyPr>
          <a:lstStyle/>
          <a:p>
            <a:pPr algn="ctr"/>
            <a:r>
              <a:rPr sz="850" b="0" i="0">
                <a:solidFill>
                  <a:srgbClr val="F7F7F7"/>
                </a:solidFill>
                <a:latin typeface="Calibri"/>
              </a:rPr>
              <a:t>Integer constraints create
2ⁿ feasible solutions;
n=100 → 10³⁰ combinations</a:t>
            </a:r>
          </a:p>
        </p:txBody>
      </p:sp>
      <p:sp>
        <p:nvSpPr>
          <p:cNvPr id="24" name="Rectangle 23"/>
          <p:cNvSpPr/>
          <p:nvPr/>
        </p:nvSpPr>
        <p:spPr>
          <a:xfrm>
            <a:off x="3337560" y="2697480"/>
            <a:ext cx="1444752" cy="1600200"/>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37560" y="2697480"/>
            <a:ext cx="14447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29000" y="2743200"/>
            <a:ext cx="1280160" cy="457200"/>
          </a:xfrm>
          <a:prstGeom prst="rect">
            <a:avLst/>
          </a:prstGeom>
          <a:noFill/>
        </p:spPr>
        <p:txBody>
          <a:bodyPr wrap="square">
            <a:spAutoFit/>
          </a:bodyPr>
          <a:lstStyle/>
          <a:p>
            <a:pPr algn="ctr"/>
            <a:r>
              <a:rPr sz="950" b="1" i="0">
                <a:solidFill>
                  <a:srgbClr val="FFFFFF"/>
                </a:solidFill>
                <a:latin typeface="Calibri"/>
              </a:rPr>
              <a:t>Dynamic
Rebalancing</a:t>
            </a:r>
          </a:p>
        </p:txBody>
      </p:sp>
      <p:sp>
        <p:nvSpPr>
          <p:cNvPr id="27" name="TextBox 26"/>
          <p:cNvSpPr txBox="1"/>
          <p:nvPr/>
        </p:nvSpPr>
        <p:spPr>
          <a:xfrm>
            <a:off x="3429000" y="3182112"/>
            <a:ext cx="1280160" cy="1051560"/>
          </a:xfrm>
          <a:prstGeom prst="rect">
            <a:avLst/>
          </a:prstGeom>
          <a:noFill/>
        </p:spPr>
        <p:txBody>
          <a:bodyPr wrap="square">
            <a:spAutoFit/>
          </a:bodyPr>
          <a:lstStyle/>
          <a:p>
            <a:pPr algn="ctr"/>
            <a:r>
              <a:rPr sz="850" b="0" i="0">
                <a:solidFill>
                  <a:srgbClr val="F7F7F7"/>
                </a:solidFill>
                <a:latin typeface="Calibri"/>
              </a:rPr>
              <a:t>Multi-period optimization
with transaction costs
and tax constraints</a:t>
            </a:r>
          </a:p>
        </p:txBody>
      </p:sp>
      <p:pic>
        <p:nvPicPr>
          <p:cNvPr id="28" name="Picture 27" descr="image.png"/>
          <p:cNvPicPr>
            <a:picLocks noChangeAspect="1"/>
          </p:cNvPicPr>
          <p:nvPr/>
        </p:nvPicPr>
        <p:blipFill>
          <a:blip r:embed="rId2"/>
          <a:stretch>
            <a:fillRect/>
          </a:stretch>
        </p:blipFill>
        <p:spPr>
          <a:xfrm>
            <a:off x="4754880" y="1170432"/>
            <a:ext cx="7178040" cy="4363709"/>
          </a:xfrm>
          <a:prstGeom prst="rect">
            <a:avLst/>
          </a:prstGeom>
        </p:spPr>
      </p:pic>
      <p:sp>
        <p:nvSpPr>
          <p:cNvPr id="29" name="Rectangle 28"/>
          <p:cNvSpPr/>
          <p:nvPr/>
        </p:nvSpPr>
        <p:spPr>
          <a:xfrm>
            <a:off x="228600" y="4407408"/>
            <a:ext cx="4389120" cy="27432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28600" y="4407408"/>
            <a:ext cx="635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4407408"/>
            <a:ext cx="4206240" cy="274320"/>
          </a:xfrm>
          <a:prstGeom prst="rect">
            <a:avLst/>
          </a:prstGeom>
          <a:noFill/>
        </p:spPr>
        <p:txBody>
          <a:bodyPr wrap="square">
            <a:spAutoFit/>
          </a:bodyPr>
          <a:lstStyle/>
          <a:p>
            <a:pPr algn="l"/>
            <a:r>
              <a:rPr sz="900" b="1" i="0">
                <a:solidFill>
                  <a:srgbClr val="FFFFFF"/>
                </a:solidFill>
                <a:latin typeface="Calibri"/>
              </a:rPr>
              <a:t>CLASSICAL OPTIMIZATION BOTTLENECKS</a:t>
            </a:r>
          </a:p>
        </p:txBody>
      </p:sp>
      <p:sp>
        <p:nvSpPr>
          <p:cNvPr id="32" name="TextBox 31"/>
          <p:cNvSpPr txBox="1"/>
          <p:nvPr/>
        </p:nvSpPr>
        <p:spPr>
          <a:xfrm>
            <a:off x="274320" y="4736592"/>
            <a:ext cx="4389120" cy="301752"/>
          </a:xfrm>
          <a:prstGeom prst="rect">
            <a:avLst/>
          </a:prstGeom>
          <a:noFill/>
        </p:spPr>
        <p:txBody>
          <a:bodyPr wrap="square">
            <a:spAutoFit/>
          </a:bodyPr>
          <a:lstStyle/>
          <a:p>
            <a:pPr algn="l"/>
            <a:r>
              <a:rPr sz="900" b="0" i="0">
                <a:solidFill>
                  <a:srgbClr val="1A1A1A"/>
                </a:solidFill>
                <a:latin typeface="Calibri"/>
              </a:rPr>
              <a:t>  ▸  Quadratic Programming solvers scale poorly beyond 500 assets</a:t>
            </a:r>
          </a:p>
        </p:txBody>
      </p:sp>
      <p:sp>
        <p:nvSpPr>
          <p:cNvPr id="33" name="TextBox 32"/>
          <p:cNvSpPr txBox="1"/>
          <p:nvPr/>
        </p:nvSpPr>
        <p:spPr>
          <a:xfrm>
            <a:off x="274320" y="5056631"/>
            <a:ext cx="4389120" cy="301752"/>
          </a:xfrm>
          <a:prstGeom prst="rect">
            <a:avLst/>
          </a:prstGeom>
          <a:noFill/>
        </p:spPr>
        <p:txBody>
          <a:bodyPr wrap="square">
            <a:spAutoFit/>
          </a:bodyPr>
          <a:lstStyle/>
          <a:p>
            <a:pPr algn="l"/>
            <a:r>
              <a:rPr sz="900" b="0" i="0">
                <a:solidFill>
                  <a:srgbClr val="1A1A1A"/>
                </a:solidFill>
                <a:latin typeface="Calibri"/>
              </a:rPr>
              <a:t>  ▸  Integer constraints (cardinality, lots) make problem NP-hard</a:t>
            </a:r>
          </a:p>
        </p:txBody>
      </p:sp>
      <p:sp>
        <p:nvSpPr>
          <p:cNvPr id="34" name="TextBox 33"/>
          <p:cNvSpPr txBox="1"/>
          <p:nvPr/>
        </p:nvSpPr>
        <p:spPr>
          <a:xfrm>
            <a:off x="274320" y="5376672"/>
            <a:ext cx="4389120" cy="301752"/>
          </a:xfrm>
          <a:prstGeom prst="rect">
            <a:avLst/>
          </a:prstGeom>
          <a:noFill/>
        </p:spPr>
        <p:txBody>
          <a:bodyPr wrap="square">
            <a:spAutoFit/>
          </a:bodyPr>
          <a:lstStyle/>
          <a:p>
            <a:pPr algn="l"/>
            <a:r>
              <a:rPr sz="900" b="0" i="0">
                <a:solidFill>
                  <a:srgbClr val="1A1A1A"/>
                </a:solidFill>
                <a:latin typeface="Calibri"/>
              </a:rPr>
              <a:t>  ▸  Cannot evaluate all efficient frontier points simultaneously</a:t>
            </a:r>
          </a:p>
        </p:txBody>
      </p:sp>
      <p:sp>
        <p:nvSpPr>
          <p:cNvPr id="35" name="TextBox 34"/>
          <p:cNvSpPr txBox="1"/>
          <p:nvPr/>
        </p:nvSpPr>
        <p:spPr>
          <a:xfrm>
            <a:off x="274320" y="5696712"/>
            <a:ext cx="4389120" cy="301752"/>
          </a:xfrm>
          <a:prstGeom prst="rect">
            <a:avLst/>
          </a:prstGeom>
          <a:noFill/>
        </p:spPr>
        <p:txBody>
          <a:bodyPr wrap="square">
            <a:spAutoFit/>
          </a:bodyPr>
          <a:lstStyle/>
          <a:p>
            <a:pPr algn="l"/>
            <a:r>
              <a:rPr sz="900" b="0" i="0">
                <a:solidFill>
                  <a:srgbClr val="1A1A1A"/>
                </a:solidFill>
                <a:latin typeface="Calibri"/>
              </a:rPr>
              <a:t>  ▸  Monte Carlo for robust optimization needs millions of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Quantum-Enhanced Markowitz Model</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QAOA and Quantum Annealing Redefine Portfolio Construction</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28600" y="1207008"/>
            <a:ext cx="3931920" cy="17830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207008"/>
            <a:ext cx="63500" cy="17830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261872"/>
            <a:ext cx="3657600" cy="320040"/>
          </a:xfrm>
          <a:prstGeom prst="rect">
            <a:avLst/>
          </a:prstGeom>
          <a:noFill/>
        </p:spPr>
        <p:txBody>
          <a:bodyPr wrap="square">
            <a:spAutoFit/>
          </a:bodyPr>
          <a:lstStyle/>
          <a:p>
            <a:pPr algn="l"/>
            <a:r>
              <a:rPr sz="1050" b="1" i="0">
                <a:solidFill>
                  <a:srgbClr val="CC0000"/>
                </a:solidFill>
                <a:latin typeface="Calibri"/>
              </a:rPr>
              <a:t>QUBO Formulation</a:t>
            </a:r>
          </a:p>
        </p:txBody>
      </p:sp>
      <p:sp>
        <p:nvSpPr>
          <p:cNvPr id="14" name="TextBox 13"/>
          <p:cNvSpPr txBox="1"/>
          <p:nvPr/>
        </p:nvSpPr>
        <p:spPr>
          <a:xfrm>
            <a:off x="347472" y="1581912"/>
            <a:ext cx="3657600" cy="274320"/>
          </a:xfrm>
          <a:prstGeom prst="rect">
            <a:avLst/>
          </a:prstGeom>
          <a:noFill/>
        </p:spPr>
        <p:txBody>
          <a:bodyPr wrap="square">
            <a:spAutoFit/>
          </a:bodyPr>
          <a:lstStyle/>
          <a:p>
            <a:pPr algn="l"/>
            <a:r>
              <a:rPr sz="1000" b="0" i="0">
                <a:solidFill>
                  <a:srgbClr val="F7F7F7"/>
                </a:solidFill>
                <a:latin typeface="Courier New"/>
              </a:rPr>
              <a:t>Minimize: xᵀQx</a:t>
            </a:r>
          </a:p>
        </p:txBody>
      </p:sp>
      <p:sp>
        <p:nvSpPr>
          <p:cNvPr id="15" name="TextBox 14"/>
          <p:cNvSpPr txBox="1"/>
          <p:nvPr/>
        </p:nvSpPr>
        <p:spPr>
          <a:xfrm>
            <a:off x="347472" y="1856231"/>
            <a:ext cx="3657600" cy="1005840"/>
          </a:xfrm>
          <a:prstGeom prst="rect">
            <a:avLst/>
          </a:prstGeom>
          <a:noFill/>
        </p:spPr>
        <p:txBody>
          <a:bodyPr wrap="square">
            <a:spAutoFit/>
          </a:bodyPr>
          <a:lstStyle/>
          <a:p>
            <a:pPr algn="l"/>
            <a:r>
              <a:rPr sz="900" b="0" i="0">
                <a:solidFill>
                  <a:srgbClr val="DDDDDD"/>
                </a:solidFill>
                <a:latin typeface="Calibri"/>
              </a:rPr>
              <a:t>where x ∈ {0,1}ⁿ (binary asset selection)
Q encodes return, risk, and constraints
Native quantum hardware input format</a:t>
            </a:r>
          </a:p>
        </p:txBody>
      </p:sp>
      <p:sp>
        <p:nvSpPr>
          <p:cNvPr id="16" name="Rectangle 15"/>
          <p:cNvSpPr/>
          <p:nvPr/>
        </p:nvSpPr>
        <p:spPr>
          <a:xfrm>
            <a:off x="228600" y="3127248"/>
            <a:ext cx="1298448" cy="2697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8600" y="3127248"/>
            <a:ext cx="129844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 y="3200400"/>
            <a:ext cx="1170432" cy="365760"/>
          </a:xfrm>
          <a:prstGeom prst="rect">
            <a:avLst/>
          </a:prstGeom>
          <a:noFill/>
        </p:spPr>
        <p:txBody>
          <a:bodyPr wrap="square">
            <a:spAutoFit/>
          </a:bodyPr>
          <a:lstStyle/>
          <a:p>
            <a:pPr algn="l"/>
            <a:r>
              <a:rPr sz="1600" b="1" i="0">
                <a:solidFill>
                  <a:srgbClr val="FFFFFF"/>
                </a:solidFill>
                <a:latin typeface="Calibri"/>
              </a:rPr>
              <a:t>QAOA</a:t>
            </a:r>
          </a:p>
        </p:txBody>
      </p:sp>
      <p:sp>
        <p:nvSpPr>
          <p:cNvPr id="19" name="TextBox 18"/>
          <p:cNvSpPr txBox="1"/>
          <p:nvPr/>
        </p:nvSpPr>
        <p:spPr>
          <a:xfrm>
            <a:off x="301752" y="3566160"/>
            <a:ext cx="1170432" cy="502920"/>
          </a:xfrm>
          <a:prstGeom prst="rect">
            <a:avLst/>
          </a:prstGeom>
          <a:noFill/>
        </p:spPr>
        <p:txBody>
          <a:bodyPr wrap="square">
            <a:spAutoFit/>
          </a:bodyPr>
          <a:lstStyle/>
          <a:p>
            <a:pPr algn="l"/>
            <a:r>
              <a:rPr sz="850" b="1" i="0">
                <a:solidFill>
                  <a:srgbClr val="FFFFFF"/>
                </a:solidFill>
                <a:latin typeface="Calibri"/>
              </a:rPr>
              <a:t>Quantum Approximate
Optimization Algorithm</a:t>
            </a:r>
          </a:p>
        </p:txBody>
      </p:sp>
      <p:sp>
        <p:nvSpPr>
          <p:cNvPr id="20" name="TextBox 19"/>
          <p:cNvSpPr txBox="1"/>
          <p:nvPr/>
        </p:nvSpPr>
        <p:spPr>
          <a:xfrm>
            <a:off x="301752" y="4041648"/>
            <a:ext cx="1188720" cy="1645920"/>
          </a:xfrm>
          <a:prstGeom prst="rect">
            <a:avLst/>
          </a:prstGeom>
          <a:noFill/>
        </p:spPr>
        <p:txBody>
          <a:bodyPr wrap="square">
            <a:spAutoFit/>
          </a:bodyPr>
          <a:lstStyle/>
          <a:p>
            <a:pPr algn="l"/>
            <a:r>
              <a:rPr sz="800" b="0" i="0">
                <a:solidFill>
                  <a:srgbClr val="F7F7F7"/>
                </a:solidFill>
                <a:latin typeface="Calibri"/>
              </a:rPr>
              <a:t>Parameterized quantum circuit
alternates between cost and
mixer Hamiltonians to find
near-optimal solutions</a:t>
            </a:r>
          </a:p>
        </p:txBody>
      </p:sp>
      <p:sp>
        <p:nvSpPr>
          <p:cNvPr id="21" name="Rectangle 20"/>
          <p:cNvSpPr/>
          <p:nvPr/>
        </p:nvSpPr>
        <p:spPr>
          <a:xfrm>
            <a:off x="1645920" y="3127248"/>
            <a:ext cx="1298448" cy="26974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645920" y="3127248"/>
            <a:ext cx="129844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19072" y="3200400"/>
            <a:ext cx="1170432" cy="365760"/>
          </a:xfrm>
          <a:prstGeom prst="rect">
            <a:avLst/>
          </a:prstGeom>
          <a:noFill/>
        </p:spPr>
        <p:txBody>
          <a:bodyPr wrap="square">
            <a:spAutoFit/>
          </a:bodyPr>
          <a:lstStyle/>
          <a:p>
            <a:pPr algn="l"/>
            <a:r>
              <a:rPr sz="1600" b="1" i="0">
                <a:solidFill>
                  <a:srgbClr val="FFFFFF"/>
                </a:solidFill>
                <a:latin typeface="Calibri"/>
              </a:rPr>
              <a:t>VQE</a:t>
            </a:r>
          </a:p>
        </p:txBody>
      </p:sp>
      <p:sp>
        <p:nvSpPr>
          <p:cNvPr id="24" name="TextBox 23"/>
          <p:cNvSpPr txBox="1"/>
          <p:nvPr/>
        </p:nvSpPr>
        <p:spPr>
          <a:xfrm>
            <a:off x="1719072" y="3566160"/>
            <a:ext cx="1170432" cy="502920"/>
          </a:xfrm>
          <a:prstGeom prst="rect">
            <a:avLst/>
          </a:prstGeom>
          <a:noFill/>
        </p:spPr>
        <p:txBody>
          <a:bodyPr wrap="square">
            <a:spAutoFit/>
          </a:bodyPr>
          <a:lstStyle/>
          <a:p>
            <a:pPr algn="l"/>
            <a:r>
              <a:rPr sz="850" b="1" i="0">
                <a:solidFill>
                  <a:srgbClr val="FFFFFF"/>
                </a:solidFill>
                <a:latin typeface="Calibri"/>
              </a:rPr>
              <a:t>Variational Quantum
Eigensolver</a:t>
            </a:r>
          </a:p>
        </p:txBody>
      </p:sp>
      <p:sp>
        <p:nvSpPr>
          <p:cNvPr id="25" name="TextBox 24"/>
          <p:cNvSpPr txBox="1"/>
          <p:nvPr/>
        </p:nvSpPr>
        <p:spPr>
          <a:xfrm>
            <a:off x="1719072" y="4041648"/>
            <a:ext cx="1188720" cy="1645920"/>
          </a:xfrm>
          <a:prstGeom prst="rect">
            <a:avLst/>
          </a:prstGeom>
          <a:noFill/>
        </p:spPr>
        <p:txBody>
          <a:bodyPr wrap="square">
            <a:spAutoFit/>
          </a:bodyPr>
          <a:lstStyle/>
          <a:p>
            <a:pPr algn="l"/>
            <a:r>
              <a:rPr sz="800" b="0" i="0">
                <a:solidFill>
                  <a:srgbClr val="F7F7F7"/>
                </a:solidFill>
                <a:latin typeface="Calibri"/>
              </a:rPr>
              <a:t>Hybrid classical-quantum
loop minimizes energy
function mapped from
portfolio objective</a:t>
            </a:r>
          </a:p>
        </p:txBody>
      </p:sp>
      <p:sp>
        <p:nvSpPr>
          <p:cNvPr id="26" name="Rectangle 25"/>
          <p:cNvSpPr/>
          <p:nvPr/>
        </p:nvSpPr>
        <p:spPr>
          <a:xfrm>
            <a:off x="3063240" y="3127248"/>
            <a:ext cx="1298448" cy="26974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063240" y="3127248"/>
            <a:ext cx="129844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36392" y="3200400"/>
            <a:ext cx="1170432" cy="365760"/>
          </a:xfrm>
          <a:prstGeom prst="rect">
            <a:avLst/>
          </a:prstGeom>
          <a:noFill/>
        </p:spPr>
        <p:txBody>
          <a:bodyPr wrap="square">
            <a:spAutoFit/>
          </a:bodyPr>
          <a:lstStyle/>
          <a:p>
            <a:pPr algn="l"/>
            <a:r>
              <a:rPr sz="1600" b="1" i="0">
                <a:solidFill>
                  <a:srgbClr val="FFFFFF"/>
                </a:solidFill>
                <a:latin typeface="Calibri"/>
              </a:rPr>
              <a:t>QA</a:t>
            </a:r>
          </a:p>
        </p:txBody>
      </p:sp>
      <p:sp>
        <p:nvSpPr>
          <p:cNvPr id="29" name="TextBox 28"/>
          <p:cNvSpPr txBox="1"/>
          <p:nvPr/>
        </p:nvSpPr>
        <p:spPr>
          <a:xfrm>
            <a:off x="3136392" y="3566160"/>
            <a:ext cx="1170432" cy="502920"/>
          </a:xfrm>
          <a:prstGeom prst="rect">
            <a:avLst/>
          </a:prstGeom>
          <a:noFill/>
        </p:spPr>
        <p:txBody>
          <a:bodyPr wrap="square">
            <a:spAutoFit/>
          </a:bodyPr>
          <a:lstStyle/>
          <a:p>
            <a:pPr algn="l"/>
            <a:r>
              <a:rPr sz="850" b="1" i="0">
                <a:solidFill>
                  <a:srgbClr val="FFFFFF"/>
                </a:solidFill>
                <a:latin typeface="Calibri"/>
              </a:rPr>
              <a:t>Quantum
Annealing</a:t>
            </a:r>
          </a:p>
        </p:txBody>
      </p:sp>
      <p:sp>
        <p:nvSpPr>
          <p:cNvPr id="30" name="TextBox 29"/>
          <p:cNvSpPr txBox="1"/>
          <p:nvPr/>
        </p:nvSpPr>
        <p:spPr>
          <a:xfrm>
            <a:off x="3136392" y="4041648"/>
            <a:ext cx="1188720" cy="1645920"/>
          </a:xfrm>
          <a:prstGeom prst="rect">
            <a:avLst/>
          </a:prstGeom>
          <a:noFill/>
        </p:spPr>
        <p:txBody>
          <a:bodyPr wrap="square">
            <a:spAutoFit/>
          </a:bodyPr>
          <a:lstStyle/>
          <a:p>
            <a:pPr algn="l"/>
            <a:r>
              <a:rPr sz="800" b="0" i="0">
                <a:solidFill>
                  <a:srgbClr val="F7F7F7"/>
                </a:solidFill>
                <a:latin typeface="Calibri"/>
              </a:rPr>
              <a:t>D-Wave systems physically
minimize Ising Hamiltonian
— direct mapping from
financial optimization</a:t>
            </a:r>
          </a:p>
        </p:txBody>
      </p:sp>
      <p:sp>
        <p:nvSpPr>
          <p:cNvPr id="31" name="Rectangle 30"/>
          <p:cNvSpPr/>
          <p:nvPr/>
        </p:nvSpPr>
        <p:spPr>
          <a:xfrm>
            <a:off x="228600" y="6007608"/>
            <a:ext cx="4206240" cy="5669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 y="6016752"/>
            <a:ext cx="4069080" cy="548640"/>
          </a:xfrm>
          <a:prstGeom prst="rect">
            <a:avLst/>
          </a:prstGeom>
          <a:noFill/>
        </p:spPr>
        <p:txBody>
          <a:bodyPr wrap="square">
            <a:spAutoFit/>
          </a:bodyPr>
          <a:lstStyle/>
          <a:p>
            <a:pPr algn="l"/>
            <a:r>
              <a:rPr sz="1000" b="1" i="1">
                <a:solidFill>
                  <a:srgbClr val="FFFFFF"/>
                </a:solidFill>
                <a:latin typeface="Calibri"/>
              </a:rPr>
              <a:t>"Quantum algorithms can explore exponentially larger portfolio
combinations than classical methods."</a:t>
            </a:r>
          </a:p>
        </p:txBody>
      </p:sp>
      <p:pic>
        <p:nvPicPr>
          <p:cNvPr id="33" name="Picture 32" descr="image.png"/>
          <p:cNvPicPr>
            <a:picLocks noChangeAspect="1"/>
          </p:cNvPicPr>
          <p:nvPr/>
        </p:nvPicPr>
        <p:blipFill>
          <a:blip r:embed="rId2"/>
          <a:stretch>
            <a:fillRect/>
          </a:stretch>
        </p:blipFill>
        <p:spPr>
          <a:xfrm>
            <a:off x="4462272" y="1170432"/>
            <a:ext cx="7498079" cy="314646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Industry Pilots – JPMorgan Chase &amp; Goldman Sachs</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Leading Financial Institutions Are Already Running Quantum Experiments</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164592" y="1207008"/>
            <a:ext cx="1645920" cy="34747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207008"/>
            <a:ext cx="1645920" cy="347472"/>
          </a:xfrm>
          <a:prstGeom prst="rect">
            <a:avLst/>
          </a:prstGeom>
          <a:noFill/>
        </p:spPr>
        <p:txBody>
          <a:bodyPr wrap="square">
            <a:spAutoFit/>
          </a:bodyPr>
          <a:lstStyle/>
          <a:p>
            <a:pPr algn="l"/>
            <a:r>
              <a:rPr sz="900" b="1" i="0">
                <a:solidFill>
                  <a:srgbClr val="FFFFFF"/>
                </a:solidFill>
                <a:latin typeface="Calibri"/>
              </a:rPr>
              <a:t>Institution</a:t>
            </a:r>
          </a:p>
        </p:txBody>
      </p:sp>
      <p:sp>
        <p:nvSpPr>
          <p:cNvPr id="13" name="Rectangle 12"/>
          <p:cNvSpPr/>
          <p:nvPr/>
        </p:nvSpPr>
        <p:spPr>
          <a:xfrm>
            <a:off x="1847088" y="1207008"/>
            <a:ext cx="2194560" cy="34747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11096" y="1207008"/>
            <a:ext cx="2194560" cy="347472"/>
          </a:xfrm>
          <a:prstGeom prst="rect">
            <a:avLst/>
          </a:prstGeom>
          <a:noFill/>
        </p:spPr>
        <p:txBody>
          <a:bodyPr wrap="square">
            <a:spAutoFit/>
          </a:bodyPr>
          <a:lstStyle/>
          <a:p>
            <a:pPr algn="l"/>
            <a:r>
              <a:rPr sz="900" b="1" i="0">
                <a:solidFill>
                  <a:srgbClr val="FFFFFF"/>
                </a:solidFill>
                <a:latin typeface="Calibri"/>
              </a:rPr>
              <a:t>Use Case</a:t>
            </a:r>
          </a:p>
        </p:txBody>
      </p:sp>
      <p:sp>
        <p:nvSpPr>
          <p:cNvPr id="15" name="Rectangle 14"/>
          <p:cNvSpPr/>
          <p:nvPr/>
        </p:nvSpPr>
        <p:spPr>
          <a:xfrm>
            <a:off x="4078224" y="1207008"/>
            <a:ext cx="2194560" cy="34747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42232" y="1207008"/>
            <a:ext cx="2194560" cy="347472"/>
          </a:xfrm>
          <a:prstGeom prst="rect">
            <a:avLst/>
          </a:prstGeom>
          <a:noFill/>
        </p:spPr>
        <p:txBody>
          <a:bodyPr wrap="square">
            <a:spAutoFit/>
          </a:bodyPr>
          <a:lstStyle/>
          <a:p>
            <a:pPr algn="l"/>
            <a:r>
              <a:rPr sz="900" b="1" i="0">
                <a:solidFill>
                  <a:srgbClr val="FFFFFF"/>
                </a:solidFill>
                <a:latin typeface="Calibri"/>
              </a:rPr>
              <a:t>Quantum Approach</a:t>
            </a:r>
          </a:p>
        </p:txBody>
      </p:sp>
      <p:sp>
        <p:nvSpPr>
          <p:cNvPr id="17" name="Rectangle 16"/>
          <p:cNvSpPr/>
          <p:nvPr/>
        </p:nvSpPr>
        <p:spPr>
          <a:xfrm>
            <a:off x="6309360" y="1207008"/>
            <a:ext cx="1828800" cy="34747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207008"/>
            <a:ext cx="1828800" cy="347472"/>
          </a:xfrm>
          <a:prstGeom prst="rect">
            <a:avLst/>
          </a:prstGeom>
          <a:noFill/>
        </p:spPr>
        <p:txBody>
          <a:bodyPr wrap="square">
            <a:spAutoFit/>
          </a:bodyPr>
          <a:lstStyle/>
          <a:p>
            <a:pPr algn="l"/>
            <a:r>
              <a:rPr sz="900" b="1" i="0">
                <a:solidFill>
                  <a:srgbClr val="FFFFFF"/>
                </a:solidFill>
                <a:latin typeface="Calibri"/>
              </a:rPr>
              <a:t>Technology Partner</a:t>
            </a:r>
          </a:p>
        </p:txBody>
      </p:sp>
      <p:sp>
        <p:nvSpPr>
          <p:cNvPr id="19" name="Rectangle 18"/>
          <p:cNvSpPr/>
          <p:nvPr/>
        </p:nvSpPr>
        <p:spPr>
          <a:xfrm>
            <a:off x="8174736" y="1207008"/>
            <a:ext cx="4069080" cy="347472"/>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207008"/>
            <a:ext cx="4069080" cy="347472"/>
          </a:xfrm>
          <a:prstGeom prst="rect">
            <a:avLst/>
          </a:prstGeom>
          <a:noFill/>
        </p:spPr>
        <p:txBody>
          <a:bodyPr wrap="square">
            <a:spAutoFit/>
          </a:bodyPr>
          <a:lstStyle/>
          <a:p>
            <a:pPr algn="l"/>
            <a:r>
              <a:rPr sz="900" b="1" i="0">
                <a:solidFill>
                  <a:srgbClr val="FFFFFF"/>
                </a:solidFill>
                <a:latin typeface="Calibri"/>
              </a:rPr>
              <a:t>Expected Benefit</a:t>
            </a:r>
          </a:p>
        </p:txBody>
      </p:sp>
      <p:sp>
        <p:nvSpPr>
          <p:cNvPr id="21" name="Rectangle 20"/>
          <p:cNvSpPr/>
          <p:nvPr/>
        </p:nvSpPr>
        <p:spPr>
          <a:xfrm>
            <a:off x="164592" y="1591056"/>
            <a:ext cx="164592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 y="1618488"/>
            <a:ext cx="1554480" cy="694944"/>
          </a:xfrm>
          <a:prstGeom prst="rect">
            <a:avLst/>
          </a:prstGeom>
          <a:noFill/>
        </p:spPr>
        <p:txBody>
          <a:bodyPr wrap="square">
            <a:spAutoFit/>
          </a:bodyPr>
          <a:lstStyle/>
          <a:p>
            <a:pPr algn="l"/>
            <a:r>
              <a:rPr sz="850" b="1" i="0">
                <a:solidFill>
                  <a:srgbClr val="CC0000"/>
                </a:solidFill>
                <a:latin typeface="Calibri"/>
              </a:rPr>
              <a:t>JPMorgan Chase</a:t>
            </a:r>
          </a:p>
        </p:txBody>
      </p:sp>
      <p:sp>
        <p:nvSpPr>
          <p:cNvPr id="23" name="Rectangle 22"/>
          <p:cNvSpPr/>
          <p:nvPr/>
        </p:nvSpPr>
        <p:spPr>
          <a:xfrm>
            <a:off x="1847088" y="159105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11096" y="1618488"/>
            <a:ext cx="2103120" cy="694944"/>
          </a:xfrm>
          <a:prstGeom prst="rect">
            <a:avLst/>
          </a:prstGeom>
          <a:noFill/>
        </p:spPr>
        <p:txBody>
          <a:bodyPr wrap="square">
            <a:spAutoFit/>
          </a:bodyPr>
          <a:lstStyle/>
          <a:p>
            <a:pPr algn="l"/>
            <a:r>
              <a:rPr sz="850" b="0" i="0">
                <a:solidFill>
                  <a:srgbClr val="1A1A1A"/>
                </a:solidFill>
                <a:latin typeface="Calibri"/>
              </a:rPr>
              <a:t>Portfolio Optimization</a:t>
            </a:r>
          </a:p>
        </p:txBody>
      </p:sp>
      <p:sp>
        <p:nvSpPr>
          <p:cNvPr id="25" name="Rectangle 24"/>
          <p:cNvSpPr/>
          <p:nvPr/>
        </p:nvSpPr>
        <p:spPr>
          <a:xfrm>
            <a:off x="4078224" y="159105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42232" y="1618488"/>
            <a:ext cx="2103120" cy="694944"/>
          </a:xfrm>
          <a:prstGeom prst="rect">
            <a:avLst/>
          </a:prstGeom>
          <a:noFill/>
        </p:spPr>
        <p:txBody>
          <a:bodyPr wrap="square">
            <a:spAutoFit/>
          </a:bodyPr>
          <a:lstStyle/>
          <a:p>
            <a:pPr algn="l"/>
            <a:r>
              <a:rPr sz="850" b="0" i="0">
                <a:solidFill>
                  <a:srgbClr val="1A1A1A"/>
                </a:solidFill>
                <a:latin typeface="Calibri"/>
              </a:rPr>
              <a:t>QAOA on trapped-ion
quantum circuits</a:t>
            </a:r>
          </a:p>
        </p:txBody>
      </p:sp>
      <p:sp>
        <p:nvSpPr>
          <p:cNvPr id="27" name="Rectangle 26"/>
          <p:cNvSpPr/>
          <p:nvPr/>
        </p:nvSpPr>
        <p:spPr>
          <a:xfrm>
            <a:off x="6309360" y="1591056"/>
            <a:ext cx="182880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3368" y="1618488"/>
            <a:ext cx="1737360" cy="694944"/>
          </a:xfrm>
          <a:prstGeom prst="rect">
            <a:avLst/>
          </a:prstGeom>
          <a:noFill/>
        </p:spPr>
        <p:txBody>
          <a:bodyPr wrap="square">
            <a:spAutoFit/>
          </a:bodyPr>
          <a:lstStyle/>
          <a:p>
            <a:pPr algn="l"/>
            <a:r>
              <a:rPr sz="850" b="0" i="0">
                <a:solidFill>
                  <a:srgbClr val="1A1A1A"/>
                </a:solidFill>
                <a:latin typeface="Calibri"/>
              </a:rPr>
              <a:t>IonQ / IBM Quantum</a:t>
            </a:r>
          </a:p>
        </p:txBody>
      </p:sp>
      <p:sp>
        <p:nvSpPr>
          <p:cNvPr id="29" name="Rectangle 28"/>
          <p:cNvSpPr/>
          <p:nvPr/>
        </p:nvSpPr>
        <p:spPr>
          <a:xfrm>
            <a:off x="8174736" y="1591056"/>
            <a:ext cx="406908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38744" y="1618488"/>
            <a:ext cx="3977640" cy="694944"/>
          </a:xfrm>
          <a:prstGeom prst="rect">
            <a:avLst/>
          </a:prstGeom>
          <a:noFill/>
        </p:spPr>
        <p:txBody>
          <a:bodyPr wrap="square">
            <a:spAutoFit/>
          </a:bodyPr>
          <a:lstStyle/>
          <a:p>
            <a:pPr algn="l"/>
            <a:r>
              <a:rPr sz="850" b="0" i="0">
                <a:solidFill>
                  <a:srgbClr val="1A1A1A"/>
                </a:solidFill>
                <a:latin typeface="Calibri"/>
              </a:rPr>
              <a:t>+2.7% Sharpe improvement;
40% faster rebalancing</a:t>
            </a:r>
          </a:p>
        </p:txBody>
      </p:sp>
      <p:sp>
        <p:nvSpPr>
          <p:cNvPr id="31" name="Rectangle 30"/>
          <p:cNvSpPr/>
          <p:nvPr/>
        </p:nvSpPr>
        <p:spPr>
          <a:xfrm>
            <a:off x="164592" y="2368296"/>
            <a:ext cx="164592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 y="2395728"/>
            <a:ext cx="1554480" cy="694944"/>
          </a:xfrm>
          <a:prstGeom prst="rect">
            <a:avLst/>
          </a:prstGeom>
          <a:noFill/>
        </p:spPr>
        <p:txBody>
          <a:bodyPr wrap="square">
            <a:spAutoFit/>
          </a:bodyPr>
          <a:lstStyle/>
          <a:p>
            <a:pPr algn="l"/>
            <a:r>
              <a:rPr sz="850" b="1" i="0">
                <a:solidFill>
                  <a:srgbClr val="CC0000"/>
                </a:solidFill>
                <a:latin typeface="Calibri"/>
              </a:rPr>
              <a:t>JPMorgan Chase</a:t>
            </a:r>
          </a:p>
        </p:txBody>
      </p:sp>
      <p:sp>
        <p:nvSpPr>
          <p:cNvPr id="33" name="Rectangle 32"/>
          <p:cNvSpPr/>
          <p:nvPr/>
        </p:nvSpPr>
        <p:spPr>
          <a:xfrm>
            <a:off x="1847088" y="236829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911096" y="2395728"/>
            <a:ext cx="2103120" cy="694944"/>
          </a:xfrm>
          <a:prstGeom prst="rect">
            <a:avLst/>
          </a:prstGeom>
          <a:noFill/>
        </p:spPr>
        <p:txBody>
          <a:bodyPr wrap="square">
            <a:spAutoFit/>
          </a:bodyPr>
          <a:lstStyle/>
          <a:p>
            <a:pPr algn="l"/>
            <a:r>
              <a:rPr sz="850" b="0" i="0">
                <a:solidFill>
                  <a:srgbClr val="1A1A1A"/>
                </a:solidFill>
                <a:latin typeface="Calibri"/>
              </a:rPr>
              <a:t>Derivative Pricing
(Option Greeks)</a:t>
            </a:r>
          </a:p>
        </p:txBody>
      </p:sp>
      <p:sp>
        <p:nvSpPr>
          <p:cNvPr id="35" name="Rectangle 34"/>
          <p:cNvSpPr/>
          <p:nvPr/>
        </p:nvSpPr>
        <p:spPr>
          <a:xfrm>
            <a:off x="4078224" y="236829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42232" y="2395728"/>
            <a:ext cx="2103120" cy="694944"/>
          </a:xfrm>
          <a:prstGeom prst="rect">
            <a:avLst/>
          </a:prstGeom>
          <a:noFill/>
        </p:spPr>
        <p:txBody>
          <a:bodyPr wrap="square">
            <a:spAutoFit/>
          </a:bodyPr>
          <a:lstStyle/>
          <a:p>
            <a:pPr algn="l"/>
            <a:r>
              <a:rPr sz="850" b="0" i="0">
                <a:solidFill>
                  <a:srgbClr val="1A1A1A"/>
                </a:solidFill>
                <a:latin typeface="Calibri"/>
              </a:rPr>
              <a:t>Quantum Amplitude
Estimation (QAE)</a:t>
            </a:r>
          </a:p>
        </p:txBody>
      </p:sp>
      <p:sp>
        <p:nvSpPr>
          <p:cNvPr id="37" name="Rectangle 36"/>
          <p:cNvSpPr/>
          <p:nvPr/>
        </p:nvSpPr>
        <p:spPr>
          <a:xfrm>
            <a:off x="6309360" y="2368296"/>
            <a:ext cx="182880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3368" y="2395728"/>
            <a:ext cx="1737360" cy="694944"/>
          </a:xfrm>
          <a:prstGeom prst="rect">
            <a:avLst/>
          </a:prstGeom>
          <a:noFill/>
        </p:spPr>
        <p:txBody>
          <a:bodyPr wrap="square">
            <a:spAutoFit/>
          </a:bodyPr>
          <a:lstStyle/>
          <a:p>
            <a:pPr algn="l"/>
            <a:r>
              <a:rPr sz="850" b="0" i="0">
                <a:solidFill>
                  <a:srgbClr val="1A1A1A"/>
                </a:solidFill>
                <a:latin typeface="Calibri"/>
              </a:rPr>
              <a:t>IBM Quantum</a:t>
            </a:r>
          </a:p>
        </p:txBody>
      </p:sp>
      <p:sp>
        <p:nvSpPr>
          <p:cNvPr id="39" name="Rectangle 38"/>
          <p:cNvSpPr/>
          <p:nvPr/>
        </p:nvSpPr>
        <p:spPr>
          <a:xfrm>
            <a:off x="8174736" y="2368296"/>
            <a:ext cx="406908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38744" y="2395728"/>
            <a:ext cx="3977640" cy="694944"/>
          </a:xfrm>
          <a:prstGeom prst="rect">
            <a:avLst/>
          </a:prstGeom>
          <a:noFill/>
        </p:spPr>
        <p:txBody>
          <a:bodyPr wrap="square">
            <a:spAutoFit/>
          </a:bodyPr>
          <a:lstStyle/>
          <a:p>
            <a:pPr algn="l"/>
            <a:r>
              <a:rPr sz="850" b="0" i="0">
                <a:solidFill>
                  <a:srgbClr val="1A1A1A"/>
                </a:solidFill>
                <a:latin typeface="Calibri"/>
              </a:rPr>
              <a:t>~10× speedup in price
sensitivity calculations</a:t>
            </a:r>
          </a:p>
        </p:txBody>
      </p:sp>
      <p:sp>
        <p:nvSpPr>
          <p:cNvPr id="41" name="Rectangle 40"/>
          <p:cNvSpPr/>
          <p:nvPr/>
        </p:nvSpPr>
        <p:spPr>
          <a:xfrm>
            <a:off x="164592" y="3145536"/>
            <a:ext cx="164592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 y="3172968"/>
            <a:ext cx="1554480" cy="694944"/>
          </a:xfrm>
          <a:prstGeom prst="rect">
            <a:avLst/>
          </a:prstGeom>
          <a:noFill/>
        </p:spPr>
        <p:txBody>
          <a:bodyPr wrap="square">
            <a:spAutoFit/>
          </a:bodyPr>
          <a:lstStyle/>
          <a:p>
            <a:pPr algn="l"/>
            <a:r>
              <a:rPr sz="850" b="1" i="0">
                <a:solidFill>
                  <a:srgbClr val="CC0000"/>
                </a:solidFill>
                <a:latin typeface="Calibri"/>
              </a:rPr>
              <a:t>Goldman Sachs</a:t>
            </a:r>
          </a:p>
        </p:txBody>
      </p:sp>
      <p:sp>
        <p:nvSpPr>
          <p:cNvPr id="43" name="Rectangle 42"/>
          <p:cNvSpPr/>
          <p:nvPr/>
        </p:nvSpPr>
        <p:spPr>
          <a:xfrm>
            <a:off x="1847088" y="314553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11096" y="3172968"/>
            <a:ext cx="2103120" cy="694944"/>
          </a:xfrm>
          <a:prstGeom prst="rect">
            <a:avLst/>
          </a:prstGeom>
          <a:noFill/>
        </p:spPr>
        <p:txBody>
          <a:bodyPr wrap="square">
            <a:spAutoFit/>
          </a:bodyPr>
          <a:lstStyle/>
          <a:p>
            <a:pPr algn="l"/>
            <a:r>
              <a:rPr sz="850" b="0" i="0">
                <a:solidFill>
                  <a:srgbClr val="1A1A1A"/>
                </a:solidFill>
                <a:latin typeface="Calibri"/>
              </a:rPr>
              <a:t>Monte Carlo
Acceleration</a:t>
            </a:r>
          </a:p>
        </p:txBody>
      </p:sp>
      <p:sp>
        <p:nvSpPr>
          <p:cNvPr id="45" name="Rectangle 44"/>
          <p:cNvSpPr/>
          <p:nvPr/>
        </p:nvSpPr>
        <p:spPr>
          <a:xfrm>
            <a:off x="4078224" y="314553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142232" y="3172968"/>
            <a:ext cx="2103120" cy="694944"/>
          </a:xfrm>
          <a:prstGeom prst="rect">
            <a:avLst/>
          </a:prstGeom>
          <a:noFill/>
        </p:spPr>
        <p:txBody>
          <a:bodyPr wrap="square">
            <a:spAutoFit/>
          </a:bodyPr>
          <a:lstStyle/>
          <a:p>
            <a:pPr algn="l"/>
            <a:r>
              <a:rPr sz="850" b="0" i="0">
                <a:solidFill>
                  <a:srgbClr val="1A1A1A"/>
                </a:solidFill>
                <a:latin typeface="Calibri"/>
              </a:rPr>
              <a:t>QAE for VaR &amp;
CVA computation</a:t>
            </a:r>
          </a:p>
        </p:txBody>
      </p:sp>
      <p:sp>
        <p:nvSpPr>
          <p:cNvPr id="47" name="Rectangle 46"/>
          <p:cNvSpPr/>
          <p:nvPr/>
        </p:nvSpPr>
        <p:spPr>
          <a:xfrm>
            <a:off x="6309360" y="3145536"/>
            <a:ext cx="182880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172968"/>
            <a:ext cx="1737360" cy="694944"/>
          </a:xfrm>
          <a:prstGeom prst="rect">
            <a:avLst/>
          </a:prstGeom>
          <a:noFill/>
        </p:spPr>
        <p:txBody>
          <a:bodyPr wrap="square">
            <a:spAutoFit/>
          </a:bodyPr>
          <a:lstStyle/>
          <a:p>
            <a:pPr algn="l"/>
            <a:r>
              <a:rPr sz="850" b="0" i="0">
                <a:solidFill>
                  <a:srgbClr val="1A1A1A"/>
                </a:solidFill>
                <a:latin typeface="Calibri"/>
              </a:rPr>
              <a:t>IBM / Quantinuum</a:t>
            </a:r>
          </a:p>
        </p:txBody>
      </p:sp>
      <p:sp>
        <p:nvSpPr>
          <p:cNvPr id="49" name="Rectangle 48"/>
          <p:cNvSpPr/>
          <p:nvPr/>
        </p:nvSpPr>
        <p:spPr>
          <a:xfrm>
            <a:off x="8174736" y="3145536"/>
            <a:ext cx="406908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38744" y="3172968"/>
            <a:ext cx="3977640" cy="694944"/>
          </a:xfrm>
          <a:prstGeom prst="rect">
            <a:avLst/>
          </a:prstGeom>
          <a:noFill/>
        </p:spPr>
        <p:txBody>
          <a:bodyPr wrap="square">
            <a:spAutoFit/>
          </a:bodyPr>
          <a:lstStyle/>
          <a:p>
            <a:pPr algn="l"/>
            <a:r>
              <a:rPr sz="850" b="0" i="0">
                <a:solidFill>
                  <a:srgbClr val="1A1A1A"/>
                </a:solidFill>
                <a:latin typeface="Calibri"/>
              </a:rPr>
              <a:t>Quadratic speedup;
regulatory capital benefit</a:t>
            </a:r>
          </a:p>
        </p:txBody>
      </p:sp>
      <p:sp>
        <p:nvSpPr>
          <p:cNvPr id="51" name="Rectangle 50"/>
          <p:cNvSpPr/>
          <p:nvPr/>
        </p:nvSpPr>
        <p:spPr>
          <a:xfrm>
            <a:off x="164592" y="3922776"/>
            <a:ext cx="164592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28600" y="3950208"/>
            <a:ext cx="1554480" cy="694944"/>
          </a:xfrm>
          <a:prstGeom prst="rect">
            <a:avLst/>
          </a:prstGeom>
          <a:noFill/>
        </p:spPr>
        <p:txBody>
          <a:bodyPr wrap="square">
            <a:spAutoFit/>
          </a:bodyPr>
          <a:lstStyle/>
          <a:p>
            <a:pPr algn="l"/>
            <a:r>
              <a:rPr sz="850" b="1" i="0">
                <a:solidFill>
                  <a:srgbClr val="CC0000"/>
                </a:solidFill>
                <a:latin typeface="Calibri"/>
              </a:rPr>
              <a:t>Goldman Sachs</a:t>
            </a:r>
          </a:p>
        </p:txBody>
      </p:sp>
      <p:sp>
        <p:nvSpPr>
          <p:cNvPr id="53" name="Rectangle 52"/>
          <p:cNvSpPr/>
          <p:nvPr/>
        </p:nvSpPr>
        <p:spPr>
          <a:xfrm>
            <a:off x="1847088" y="392277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11096" y="3950208"/>
            <a:ext cx="2103120" cy="694944"/>
          </a:xfrm>
          <a:prstGeom prst="rect">
            <a:avLst/>
          </a:prstGeom>
          <a:noFill/>
        </p:spPr>
        <p:txBody>
          <a:bodyPr wrap="square">
            <a:spAutoFit/>
          </a:bodyPr>
          <a:lstStyle/>
          <a:p>
            <a:pPr algn="l"/>
            <a:r>
              <a:rPr sz="850" b="0" i="0">
                <a:solidFill>
                  <a:srgbClr val="1A1A1A"/>
                </a:solidFill>
                <a:latin typeface="Calibri"/>
              </a:rPr>
              <a:t>FX Trading
Strategies</a:t>
            </a:r>
          </a:p>
        </p:txBody>
      </p:sp>
      <p:sp>
        <p:nvSpPr>
          <p:cNvPr id="55" name="Rectangle 54"/>
          <p:cNvSpPr/>
          <p:nvPr/>
        </p:nvSpPr>
        <p:spPr>
          <a:xfrm>
            <a:off x="4078224" y="392277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42232" y="3950208"/>
            <a:ext cx="2103120" cy="694944"/>
          </a:xfrm>
          <a:prstGeom prst="rect">
            <a:avLst/>
          </a:prstGeom>
          <a:noFill/>
        </p:spPr>
        <p:txBody>
          <a:bodyPr wrap="square">
            <a:spAutoFit/>
          </a:bodyPr>
          <a:lstStyle/>
          <a:p>
            <a:pPr algn="l"/>
            <a:r>
              <a:rPr sz="850" b="0" i="0">
                <a:solidFill>
                  <a:srgbClr val="1A1A1A"/>
                </a:solidFill>
                <a:latin typeface="Calibri"/>
              </a:rPr>
              <a:t>Reinforcement Learning
on Quantum Hardware</a:t>
            </a:r>
          </a:p>
        </p:txBody>
      </p:sp>
      <p:sp>
        <p:nvSpPr>
          <p:cNvPr id="57" name="Rectangle 56"/>
          <p:cNvSpPr/>
          <p:nvPr/>
        </p:nvSpPr>
        <p:spPr>
          <a:xfrm>
            <a:off x="6309360" y="3922776"/>
            <a:ext cx="182880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73368" y="3950208"/>
            <a:ext cx="1737360" cy="694944"/>
          </a:xfrm>
          <a:prstGeom prst="rect">
            <a:avLst/>
          </a:prstGeom>
          <a:noFill/>
        </p:spPr>
        <p:txBody>
          <a:bodyPr wrap="square">
            <a:spAutoFit/>
          </a:bodyPr>
          <a:lstStyle/>
          <a:p>
            <a:pPr algn="l"/>
            <a:r>
              <a:rPr sz="850" b="0" i="0">
                <a:solidFill>
                  <a:srgbClr val="1A1A1A"/>
                </a:solidFill>
                <a:latin typeface="Calibri"/>
              </a:rPr>
              <a:t>AWS Braket</a:t>
            </a:r>
          </a:p>
        </p:txBody>
      </p:sp>
      <p:sp>
        <p:nvSpPr>
          <p:cNvPr id="59" name="Rectangle 58"/>
          <p:cNvSpPr/>
          <p:nvPr/>
        </p:nvSpPr>
        <p:spPr>
          <a:xfrm>
            <a:off x="8174736" y="3922776"/>
            <a:ext cx="406908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38744" y="3950208"/>
            <a:ext cx="3977640" cy="694944"/>
          </a:xfrm>
          <a:prstGeom prst="rect">
            <a:avLst/>
          </a:prstGeom>
          <a:noFill/>
        </p:spPr>
        <p:txBody>
          <a:bodyPr wrap="square">
            <a:spAutoFit/>
          </a:bodyPr>
          <a:lstStyle/>
          <a:p>
            <a:pPr algn="l"/>
            <a:r>
              <a:rPr sz="850" b="0" i="0">
                <a:solidFill>
                  <a:srgbClr val="1A1A1A"/>
                </a:solidFill>
                <a:latin typeface="Calibri"/>
              </a:rPr>
              <a:t>Faster strategy discovery;
reduced overfitting</a:t>
            </a:r>
          </a:p>
        </p:txBody>
      </p:sp>
      <p:sp>
        <p:nvSpPr>
          <p:cNvPr id="61" name="Rectangle 60"/>
          <p:cNvSpPr/>
          <p:nvPr/>
        </p:nvSpPr>
        <p:spPr>
          <a:xfrm>
            <a:off x="164592" y="4700016"/>
            <a:ext cx="164592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8600" y="4727448"/>
            <a:ext cx="1554480" cy="694944"/>
          </a:xfrm>
          <a:prstGeom prst="rect">
            <a:avLst/>
          </a:prstGeom>
          <a:noFill/>
        </p:spPr>
        <p:txBody>
          <a:bodyPr wrap="square">
            <a:spAutoFit/>
          </a:bodyPr>
          <a:lstStyle/>
          <a:p>
            <a:pPr algn="l"/>
            <a:r>
              <a:rPr sz="850" b="1" i="0">
                <a:solidFill>
                  <a:srgbClr val="CC0000"/>
                </a:solidFill>
                <a:latin typeface="Calibri"/>
              </a:rPr>
              <a:t>HSBC</a:t>
            </a:r>
          </a:p>
        </p:txBody>
      </p:sp>
      <p:sp>
        <p:nvSpPr>
          <p:cNvPr id="63" name="Rectangle 62"/>
          <p:cNvSpPr/>
          <p:nvPr/>
        </p:nvSpPr>
        <p:spPr>
          <a:xfrm>
            <a:off x="1847088" y="470001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911096" y="4727448"/>
            <a:ext cx="2103120" cy="694944"/>
          </a:xfrm>
          <a:prstGeom prst="rect">
            <a:avLst/>
          </a:prstGeom>
          <a:noFill/>
        </p:spPr>
        <p:txBody>
          <a:bodyPr wrap="square">
            <a:spAutoFit/>
          </a:bodyPr>
          <a:lstStyle/>
          <a:p>
            <a:pPr algn="l"/>
            <a:r>
              <a:rPr sz="850" b="0" i="0">
                <a:solidFill>
                  <a:srgbClr val="1A1A1A"/>
                </a:solidFill>
                <a:latin typeface="Calibri"/>
              </a:rPr>
              <a:t>Fraud Detection</a:t>
            </a:r>
          </a:p>
        </p:txBody>
      </p:sp>
      <p:sp>
        <p:nvSpPr>
          <p:cNvPr id="65" name="Rectangle 64"/>
          <p:cNvSpPr/>
          <p:nvPr/>
        </p:nvSpPr>
        <p:spPr>
          <a:xfrm>
            <a:off x="4078224" y="4700016"/>
            <a:ext cx="219456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142232" y="4727448"/>
            <a:ext cx="2103120" cy="694944"/>
          </a:xfrm>
          <a:prstGeom prst="rect">
            <a:avLst/>
          </a:prstGeom>
          <a:noFill/>
        </p:spPr>
        <p:txBody>
          <a:bodyPr wrap="square">
            <a:spAutoFit/>
          </a:bodyPr>
          <a:lstStyle/>
          <a:p>
            <a:pPr algn="l"/>
            <a:r>
              <a:rPr sz="850" b="0" i="0">
                <a:solidFill>
                  <a:srgbClr val="1A1A1A"/>
                </a:solidFill>
                <a:latin typeface="Calibri"/>
              </a:rPr>
              <a:t>Quantum ML (QSVM)</a:t>
            </a:r>
          </a:p>
        </p:txBody>
      </p:sp>
      <p:sp>
        <p:nvSpPr>
          <p:cNvPr id="67" name="Rectangle 66"/>
          <p:cNvSpPr/>
          <p:nvPr/>
        </p:nvSpPr>
        <p:spPr>
          <a:xfrm>
            <a:off x="6309360" y="4700016"/>
            <a:ext cx="182880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373368" y="4727448"/>
            <a:ext cx="1737360" cy="694944"/>
          </a:xfrm>
          <a:prstGeom prst="rect">
            <a:avLst/>
          </a:prstGeom>
          <a:noFill/>
        </p:spPr>
        <p:txBody>
          <a:bodyPr wrap="square">
            <a:spAutoFit/>
          </a:bodyPr>
          <a:lstStyle/>
          <a:p>
            <a:pPr algn="l"/>
            <a:r>
              <a:rPr sz="850" b="0" i="0">
                <a:solidFill>
                  <a:srgbClr val="1A1A1A"/>
                </a:solidFill>
                <a:latin typeface="Calibri"/>
              </a:rPr>
              <a:t>IBM Quantum</a:t>
            </a:r>
          </a:p>
        </p:txBody>
      </p:sp>
      <p:sp>
        <p:nvSpPr>
          <p:cNvPr id="69" name="Rectangle 68"/>
          <p:cNvSpPr/>
          <p:nvPr/>
        </p:nvSpPr>
        <p:spPr>
          <a:xfrm>
            <a:off x="8174736" y="4700016"/>
            <a:ext cx="4069080" cy="749808"/>
          </a:xfrm>
          <a:prstGeom prst="rect">
            <a:avLst/>
          </a:prstGeom>
          <a:solidFill>
            <a:srgbClr val="FFFFFF"/>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38744" y="4727448"/>
            <a:ext cx="3977640" cy="694944"/>
          </a:xfrm>
          <a:prstGeom prst="rect">
            <a:avLst/>
          </a:prstGeom>
          <a:noFill/>
        </p:spPr>
        <p:txBody>
          <a:bodyPr wrap="square">
            <a:spAutoFit/>
          </a:bodyPr>
          <a:lstStyle/>
          <a:p>
            <a:pPr algn="l"/>
            <a:r>
              <a:rPr sz="850" b="0" i="0">
                <a:solidFill>
                  <a:srgbClr val="1A1A1A"/>
                </a:solidFill>
                <a:latin typeface="Calibri"/>
              </a:rPr>
              <a:t>15% higher detection
rate in pilot</a:t>
            </a:r>
          </a:p>
        </p:txBody>
      </p:sp>
      <p:sp>
        <p:nvSpPr>
          <p:cNvPr id="71" name="Rectangle 70"/>
          <p:cNvSpPr/>
          <p:nvPr/>
        </p:nvSpPr>
        <p:spPr>
          <a:xfrm>
            <a:off x="164592" y="5477256"/>
            <a:ext cx="164592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8600" y="5504688"/>
            <a:ext cx="1554480" cy="694944"/>
          </a:xfrm>
          <a:prstGeom prst="rect">
            <a:avLst/>
          </a:prstGeom>
          <a:noFill/>
        </p:spPr>
        <p:txBody>
          <a:bodyPr wrap="square">
            <a:spAutoFit/>
          </a:bodyPr>
          <a:lstStyle/>
          <a:p>
            <a:pPr algn="l"/>
            <a:r>
              <a:rPr sz="850" b="1" i="0">
                <a:solidFill>
                  <a:srgbClr val="CC0000"/>
                </a:solidFill>
                <a:latin typeface="Calibri"/>
              </a:rPr>
              <a:t>Barclays</a:t>
            </a:r>
          </a:p>
        </p:txBody>
      </p:sp>
      <p:sp>
        <p:nvSpPr>
          <p:cNvPr id="73" name="Rectangle 72"/>
          <p:cNvSpPr/>
          <p:nvPr/>
        </p:nvSpPr>
        <p:spPr>
          <a:xfrm>
            <a:off x="1847088" y="547725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911096" y="5504688"/>
            <a:ext cx="2103120" cy="694944"/>
          </a:xfrm>
          <a:prstGeom prst="rect">
            <a:avLst/>
          </a:prstGeom>
          <a:noFill/>
        </p:spPr>
        <p:txBody>
          <a:bodyPr wrap="square">
            <a:spAutoFit/>
          </a:bodyPr>
          <a:lstStyle/>
          <a:p>
            <a:pPr algn="l"/>
            <a:r>
              <a:rPr sz="850" b="0" i="0">
                <a:solidFill>
                  <a:srgbClr val="1A1A1A"/>
                </a:solidFill>
                <a:latin typeface="Calibri"/>
              </a:rPr>
              <a:t>Liquidity Risk
Optimization</a:t>
            </a:r>
          </a:p>
        </p:txBody>
      </p:sp>
      <p:sp>
        <p:nvSpPr>
          <p:cNvPr id="75" name="Rectangle 74"/>
          <p:cNvSpPr/>
          <p:nvPr/>
        </p:nvSpPr>
        <p:spPr>
          <a:xfrm>
            <a:off x="4078224" y="5477256"/>
            <a:ext cx="219456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142232" y="5504688"/>
            <a:ext cx="2103120" cy="694944"/>
          </a:xfrm>
          <a:prstGeom prst="rect">
            <a:avLst/>
          </a:prstGeom>
          <a:noFill/>
        </p:spPr>
        <p:txBody>
          <a:bodyPr wrap="square">
            <a:spAutoFit/>
          </a:bodyPr>
          <a:lstStyle/>
          <a:p>
            <a:pPr algn="l"/>
            <a:r>
              <a:rPr sz="850" b="0" i="0">
                <a:solidFill>
                  <a:srgbClr val="1A1A1A"/>
                </a:solidFill>
                <a:latin typeface="Calibri"/>
              </a:rPr>
              <a:t>Quantum Annealing
(D-Wave)</a:t>
            </a:r>
          </a:p>
        </p:txBody>
      </p:sp>
      <p:sp>
        <p:nvSpPr>
          <p:cNvPr id="77" name="Rectangle 76"/>
          <p:cNvSpPr/>
          <p:nvPr/>
        </p:nvSpPr>
        <p:spPr>
          <a:xfrm>
            <a:off x="6309360" y="5477256"/>
            <a:ext cx="182880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373368" y="5504688"/>
            <a:ext cx="1737360" cy="694944"/>
          </a:xfrm>
          <a:prstGeom prst="rect">
            <a:avLst/>
          </a:prstGeom>
          <a:noFill/>
        </p:spPr>
        <p:txBody>
          <a:bodyPr wrap="square">
            <a:spAutoFit/>
          </a:bodyPr>
          <a:lstStyle/>
          <a:p>
            <a:pPr algn="l"/>
            <a:r>
              <a:rPr sz="850" b="0" i="0">
                <a:solidFill>
                  <a:srgbClr val="1A1A1A"/>
                </a:solidFill>
                <a:latin typeface="Calibri"/>
              </a:rPr>
              <a:t>D-Wave Systems</a:t>
            </a:r>
          </a:p>
        </p:txBody>
      </p:sp>
      <p:sp>
        <p:nvSpPr>
          <p:cNvPr id="79" name="Rectangle 78"/>
          <p:cNvSpPr/>
          <p:nvPr/>
        </p:nvSpPr>
        <p:spPr>
          <a:xfrm>
            <a:off x="8174736" y="5477256"/>
            <a:ext cx="4069080" cy="749808"/>
          </a:xfrm>
          <a:prstGeom prst="rect">
            <a:avLst/>
          </a:prstGeom>
          <a:solidFill>
            <a:srgbClr val="F7F7F7"/>
          </a:solidFill>
          <a:ln w="381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238744" y="5504688"/>
            <a:ext cx="3977640" cy="694944"/>
          </a:xfrm>
          <a:prstGeom prst="rect">
            <a:avLst/>
          </a:prstGeom>
          <a:noFill/>
        </p:spPr>
        <p:txBody>
          <a:bodyPr wrap="square">
            <a:spAutoFit/>
          </a:bodyPr>
          <a:lstStyle/>
          <a:p>
            <a:pPr algn="l"/>
            <a:r>
              <a:rPr sz="850" b="0" i="0">
                <a:solidFill>
                  <a:srgbClr val="1A1A1A"/>
                </a:solidFill>
                <a:latin typeface="Calibri"/>
              </a:rPr>
              <a:t>Near-real-time settlement
optimization</a:t>
            </a:r>
          </a:p>
        </p:txBody>
      </p:sp>
      <p:sp>
        <p:nvSpPr>
          <p:cNvPr id="81" name="Rectangle 80"/>
          <p:cNvSpPr/>
          <p:nvPr/>
        </p:nvSpPr>
        <p:spPr>
          <a:xfrm>
            <a:off x="164592" y="6309360"/>
            <a:ext cx="11887200" cy="237744"/>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256032" y="6309360"/>
            <a:ext cx="11704320" cy="237744"/>
          </a:xfrm>
          <a:prstGeom prst="rect">
            <a:avLst/>
          </a:prstGeom>
          <a:noFill/>
        </p:spPr>
        <p:txBody>
          <a:bodyPr wrap="square">
            <a:spAutoFit/>
          </a:bodyPr>
          <a:lstStyle/>
          <a:p>
            <a:pPr algn="l"/>
            <a:r>
              <a:rPr sz="700" b="0" i="0">
                <a:solidFill>
                  <a:srgbClr val="555555"/>
                </a:solidFill>
                <a:latin typeface="Calibri"/>
              </a:rPr>
              <a:t>Sources: JPMorgan Chase Quantum Research (2022–2024); Goldman Sachs QS Division; IBM Quantum Network; arXiv:2009.12677 (Stamatopoulos et 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Monte Carlo Simulations in Financial Risk</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The Workhorse of Risk Management — and Its Classical Limitations</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01168" y="1207008"/>
            <a:ext cx="4846320" cy="12070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 y="1207008"/>
            <a:ext cx="57150" cy="1207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261872"/>
            <a:ext cx="4572000" cy="347472"/>
          </a:xfrm>
          <a:prstGeom prst="rect">
            <a:avLst/>
          </a:prstGeom>
          <a:noFill/>
        </p:spPr>
        <p:txBody>
          <a:bodyPr wrap="square">
            <a:spAutoFit/>
          </a:bodyPr>
          <a:lstStyle/>
          <a:p>
            <a:pPr algn="l"/>
            <a:r>
              <a:rPr sz="1100" b="1" i="0">
                <a:solidFill>
                  <a:srgbClr val="FFFFFF"/>
                </a:solidFill>
                <a:latin typeface="Calibri"/>
              </a:rPr>
              <a:t>Derivatives Pricing</a:t>
            </a:r>
          </a:p>
        </p:txBody>
      </p:sp>
      <p:sp>
        <p:nvSpPr>
          <p:cNvPr id="14" name="TextBox 13"/>
          <p:cNvSpPr txBox="1"/>
          <p:nvPr/>
        </p:nvSpPr>
        <p:spPr>
          <a:xfrm>
            <a:off x="347472" y="1609344"/>
            <a:ext cx="4572000" cy="749808"/>
          </a:xfrm>
          <a:prstGeom prst="rect">
            <a:avLst/>
          </a:prstGeom>
          <a:noFill/>
        </p:spPr>
        <p:txBody>
          <a:bodyPr wrap="square">
            <a:spAutoFit/>
          </a:bodyPr>
          <a:lstStyle/>
          <a:p>
            <a:pPr algn="l"/>
            <a:r>
              <a:rPr sz="900" b="0" i="0">
                <a:solidFill>
                  <a:srgbClr val="F7F7F7"/>
                </a:solidFill>
                <a:latin typeface="Calibri"/>
              </a:rPr>
              <a:t>Options, exotics, and structured products require simulation of thousands of underlying paths. Standard Black-Scholes fails for path-dependent payoffs.</a:t>
            </a:r>
          </a:p>
        </p:txBody>
      </p:sp>
      <p:sp>
        <p:nvSpPr>
          <p:cNvPr id="15" name="Rectangle 14"/>
          <p:cNvSpPr/>
          <p:nvPr/>
        </p:nvSpPr>
        <p:spPr>
          <a:xfrm>
            <a:off x="201168" y="2505456"/>
            <a:ext cx="4846320" cy="1207008"/>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 y="2505456"/>
            <a:ext cx="57150" cy="1207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560320"/>
            <a:ext cx="4572000" cy="347472"/>
          </a:xfrm>
          <a:prstGeom prst="rect">
            <a:avLst/>
          </a:prstGeom>
          <a:noFill/>
        </p:spPr>
        <p:txBody>
          <a:bodyPr wrap="square">
            <a:spAutoFit/>
          </a:bodyPr>
          <a:lstStyle/>
          <a:p>
            <a:pPr algn="l"/>
            <a:r>
              <a:rPr sz="1100" b="1" i="0">
                <a:solidFill>
                  <a:srgbClr val="FFFFFF"/>
                </a:solidFill>
                <a:latin typeface="Calibri"/>
              </a:rPr>
              <a:t>Value-at-Risk (VaR)</a:t>
            </a:r>
          </a:p>
        </p:txBody>
      </p:sp>
      <p:sp>
        <p:nvSpPr>
          <p:cNvPr id="18" name="TextBox 17"/>
          <p:cNvSpPr txBox="1"/>
          <p:nvPr/>
        </p:nvSpPr>
        <p:spPr>
          <a:xfrm>
            <a:off x="347472" y="2907792"/>
            <a:ext cx="4572000" cy="749808"/>
          </a:xfrm>
          <a:prstGeom prst="rect">
            <a:avLst/>
          </a:prstGeom>
          <a:noFill/>
        </p:spPr>
        <p:txBody>
          <a:bodyPr wrap="square">
            <a:spAutoFit/>
          </a:bodyPr>
          <a:lstStyle/>
          <a:p>
            <a:pPr algn="l"/>
            <a:r>
              <a:rPr sz="900" b="0" i="0">
                <a:solidFill>
                  <a:srgbClr val="F7F7F7"/>
                </a:solidFill>
                <a:latin typeface="Calibri"/>
              </a:rPr>
              <a:t>Regulatory VaR (99%, 10-day) requires simulating full portfolio P&amp;L across scenarios. FRTB demands 250 historical scenarios daily.</a:t>
            </a:r>
          </a:p>
        </p:txBody>
      </p:sp>
      <p:sp>
        <p:nvSpPr>
          <p:cNvPr id="19" name="Rectangle 18"/>
          <p:cNvSpPr/>
          <p:nvPr/>
        </p:nvSpPr>
        <p:spPr>
          <a:xfrm>
            <a:off x="201168" y="3803904"/>
            <a:ext cx="4846320" cy="1207008"/>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 y="3803904"/>
            <a:ext cx="57150" cy="1207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3858768"/>
            <a:ext cx="4572000" cy="347472"/>
          </a:xfrm>
          <a:prstGeom prst="rect">
            <a:avLst/>
          </a:prstGeom>
          <a:noFill/>
        </p:spPr>
        <p:txBody>
          <a:bodyPr wrap="square">
            <a:spAutoFit/>
          </a:bodyPr>
          <a:lstStyle/>
          <a:p>
            <a:pPr algn="l"/>
            <a:r>
              <a:rPr sz="1100" b="1" i="0">
                <a:solidFill>
                  <a:srgbClr val="FFFFFF"/>
                </a:solidFill>
                <a:latin typeface="Calibri"/>
              </a:rPr>
              <a:t>Credit Valuation Adj. (CVA)</a:t>
            </a:r>
          </a:p>
        </p:txBody>
      </p:sp>
      <p:sp>
        <p:nvSpPr>
          <p:cNvPr id="22" name="TextBox 21"/>
          <p:cNvSpPr txBox="1"/>
          <p:nvPr/>
        </p:nvSpPr>
        <p:spPr>
          <a:xfrm>
            <a:off x="347472" y="4206240"/>
            <a:ext cx="4572000" cy="749808"/>
          </a:xfrm>
          <a:prstGeom prst="rect">
            <a:avLst/>
          </a:prstGeom>
          <a:noFill/>
        </p:spPr>
        <p:txBody>
          <a:bodyPr wrap="square">
            <a:spAutoFit/>
          </a:bodyPr>
          <a:lstStyle/>
          <a:p>
            <a:pPr algn="l"/>
            <a:r>
              <a:rPr sz="900" b="0" i="0">
                <a:solidFill>
                  <a:srgbClr val="F7F7F7"/>
                </a:solidFill>
                <a:latin typeface="Calibri"/>
              </a:rPr>
              <a:t>CVA = Expected exposure × Probability of default × LGD, computed across all counterparties and future time points simultaneously.</a:t>
            </a:r>
          </a:p>
        </p:txBody>
      </p:sp>
      <p:sp>
        <p:nvSpPr>
          <p:cNvPr id="23" name="Rectangle 22"/>
          <p:cNvSpPr/>
          <p:nvPr/>
        </p:nvSpPr>
        <p:spPr>
          <a:xfrm>
            <a:off x="201168" y="5102352"/>
            <a:ext cx="4846320" cy="1207008"/>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01168" y="5102352"/>
            <a:ext cx="57150" cy="1207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5157216"/>
            <a:ext cx="4572000" cy="347472"/>
          </a:xfrm>
          <a:prstGeom prst="rect">
            <a:avLst/>
          </a:prstGeom>
          <a:noFill/>
        </p:spPr>
        <p:txBody>
          <a:bodyPr wrap="square">
            <a:spAutoFit/>
          </a:bodyPr>
          <a:lstStyle/>
          <a:p>
            <a:pPr algn="l"/>
            <a:r>
              <a:rPr sz="1100" b="1" i="0">
                <a:solidFill>
                  <a:srgbClr val="FFFFFF"/>
                </a:solidFill>
                <a:latin typeface="Calibri"/>
              </a:rPr>
              <a:t>Stress Testing</a:t>
            </a:r>
          </a:p>
        </p:txBody>
      </p:sp>
      <p:sp>
        <p:nvSpPr>
          <p:cNvPr id="26" name="TextBox 25"/>
          <p:cNvSpPr txBox="1"/>
          <p:nvPr/>
        </p:nvSpPr>
        <p:spPr>
          <a:xfrm>
            <a:off x="347472" y="5504688"/>
            <a:ext cx="4572000" cy="749808"/>
          </a:xfrm>
          <a:prstGeom prst="rect">
            <a:avLst/>
          </a:prstGeom>
          <a:noFill/>
        </p:spPr>
        <p:txBody>
          <a:bodyPr wrap="square">
            <a:spAutoFit/>
          </a:bodyPr>
          <a:lstStyle/>
          <a:p>
            <a:pPr algn="l"/>
            <a:r>
              <a:rPr sz="900" b="0" i="0">
                <a:solidFill>
                  <a:srgbClr val="F7F7F7"/>
                </a:solidFill>
                <a:latin typeface="Calibri"/>
              </a:rPr>
              <a:t>Regulatory DFAST/CCAR stress tests simulate macroeconomic shocks across full balance sheet — billions of dollars in capital implications.</a:t>
            </a:r>
          </a:p>
        </p:txBody>
      </p:sp>
      <p:pic>
        <p:nvPicPr>
          <p:cNvPr id="27" name="Picture 26" descr="image.png"/>
          <p:cNvPicPr>
            <a:picLocks noChangeAspect="1"/>
          </p:cNvPicPr>
          <p:nvPr/>
        </p:nvPicPr>
        <p:blipFill>
          <a:blip r:embed="rId2"/>
          <a:stretch>
            <a:fillRect/>
          </a:stretch>
        </p:blipFill>
        <p:spPr>
          <a:xfrm>
            <a:off x="5230368" y="1188720"/>
            <a:ext cx="6720840" cy="3500995"/>
          </a:xfrm>
          <a:prstGeom prst="rect">
            <a:avLst/>
          </a:prstGeom>
        </p:spPr>
      </p:pic>
      <p:sp>
        <p:nvSpPr>
          <p:cNvPr id="28" name="Rectangle 27"/>
          <p:cNvSpPr/>
          <p:nvPr/>
        </p:nvSpPr>
        <p:spPr>
          <a:xfrm>
            <a:off x="5230368" y="5029200"/>
            <a:ext cx="6720840" cy="150876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30368" y="5029200"/>
            <a:ext cx="6720840"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94960" y="5120640"/>
            <a:ext cx="2103120" cy="475488"/>
          </a:xfrm>
          <a:prstGeom prst="rect">
            <a:avLst/>
          </a:prstGeom>
          <a:noFill/>
        </p:spPr>
        <p:txBody>
          <a:bodyPr wrap="square">
            <a:spAutoFit/>
          </a:bodyPr>
          <a:lstStyle/>
          <a:p>
            <a:pPr algn="ctr"/>
            <a:r>
              <a:rPr sz="1800" b="1" i="0">
                <a:solidFill>
                  <a:srgbClr val="CC0000"/>
                </a:solidFill>
                <a:latin typeface="Calibri"/>
              </a:rPr>
              <a:t>10M–100M</a:t>
            </a:r>
          </a:p>
        </p:txBody>
      </p:sp>
      <p:sp>
        <p:nvSpPr>
          <p:cNvPr id="31" name="TextBox 30"/>
          <p:cNvSpPr txBox="1"/>
          <p:nvPr/>
        </p:nvSpPr>
        <p:spPr>
          <a:xfrm>
            <a:off x="5394960" y="5577840"/>
            <a:ext cx="2103120" cy="347472"/>
          </a:xfrm>
          <a:prstGeom prst="rect">
            <a:avLst/>
          </a:prstGeom>
          <a:noFill/>
        </p:spPr>
        <p:txBody>
          <a:bodyPr wrap="square">
            <a:spAutoFit/>
          </a:bodyPr>
          <a:lstStyle/>
          <a:p>
            <a:pPr algn="ctr"/>
            <a:r>
              <a:rPr sz="850" b="0" i="0">
                <a:solidFill>
                  <a:srgbClr val="DDDDDD"/>
                </a:solidFill>
                <a:latin typeface="Calibri"/>
              </a:rPr>
              <a:t>simulation paths for accurate CVA</a:t>
            </a:r>
          </a:p>
        </p:txBody>
      </p:sp>
      <p:sp>
        <p:nvSpPr>
          <p:cNvPr id="32" name="TextBox 31"/>
          <p:cNvSpPr txBox="1"/>
          <p:nvPr/>
        </p:nvSpPr>
        <p:spPr>
          <a:xfrm>
            <a:off x="7607808" y="5120640"/>
            <a:ext cx="2103120" cy="475488"/>
          </a:xfrm>
          <a:prstGeom prst="rect">
            <a:avLst/>
          </a:prstGeom>
          <a:noFill/>
        </p:spPr>
        <p:txBody>
          <a:bodyPr wrap="square">
            <a:spAutoFit/>
          </a:bodyPr>
          <a:lstStyle/>
          <a:p>
            <a:pPr algn="ctr"/>
            <a:r>
              <a:rPr sz="1800" b="1" i="0">
                <a:solidFill>
                  <a:srgbClr val="CC0000"/>
                </a:solidFill>
                <a:latin typeface="Calibri"/>
              </a:rPr>
              <a:t>8–12 hrs</a:t>
            </a:r>
          </a:p>
        </p:txBody>
      </p:sp>
      <p:sp>
        <p:nvSpPr>
          <p:cNvPr id="33" name="TextBox 32"/>
          <p:cNvSpPr txBox="1"/>
          <p:nvPr/>
        </p:nvSpPr>
        <p:spPr>
          <a:xfrm>
            <a:off x="7607808" y="5577840"/>
            <a:ext cx="2103120" cy="347472"/>
          </a:xfrm>
          <a:prstGeom prst="rect">
            <a:avLst/>
          </a:prstGeom>
          <a:noFill/>
        </p:spPr>
        <p:txBody>
          <a:bodyPr wrap="square">
            <a:spAutoFit/>
          </a:bodyPr>
          <a:lstStyle/>
          <a:p>
            <a:pPr algn="ctr"/>
            <a:r>
              <a:rPr sz="850" b="0" i="0">
                <a:solidFill>
                  <a:srgbClr val="DDDDDD"/>
                </a:solidFill>
                <a:latin typeface="Calibri"/>
              </a:rPr>
              <a:t>classical overnight batch window</a:t>
            </a:r>
          </a:p>
        </p:txBody>
      </p:sp>
      <p:sp>
        <p:nvSpPr>
          <p:cNvPr id="34" name="TextBox 33"/>
          <p:cNvSpPr txBox="1"/>
          <p:nvPr/>
        </p:nvSpPr>
        <p:spPr>
          <a:xfrm>
            <a:off x="9820656" y="5120640"/>
            <a:ext cx="2103120" cy="475488"/>
          </a:xfrm>
          <a:prstGeom prst="rect">
            <a:avLst/>
          </a:prstGeom>
          <a:noFill/>
        </p:spPr>
        <p:txBody>
          <a:bodyPr wrap="square">
            <a:spAutoFit/>
          </a:bodyPr>
          <a:lstStyle/>
          <a:p>
            <a:pPr algn="ctr"/>
            <a:r>
              <a:rPr sz="1800" b="1" i="0">
                <a:solidFill>
                  <a:srgbClr val="CC0000"/>
                </a:solidFill>
                <a:latin typeface="Calibri"/>
              </a:rPr>
              <a:t>~$2M/yr</a:t>
            </a:r>
          </a:p>
        </p:txBody>
      </p:sp>
      <p:sp>
        <p:nvSpPr>
          <p:cNvPr id="35" name="TextBox 34"/>
          <p:cNvSpPr txBox="1"/>
          <p:nvPr/>
        </p:nvSpPr>
        <p:spPr>
          <a:xfrm>
            <a:off x="9820656" y="5577840"/>
            <a:ext cx="2103120" cy="347472"/>
          </a:xfrm>
          <a:prstGeom prst="rect">
            <a:avLst/>
          </a:prstGeom>
          <a:noFill/>
        </p:spPr>
        <p:txBody>
          <a:bodyPr wrap="square">
            <a:spAutoFit/>
          </a:bodyPr>
          <a:lstStyle/>
          <a:p>
            <a:pPr algn="ctr"/>
            <a:r>
              <a:rPr sz="850" b="0" i="0">
                <a:solidFill>
                  <a:srgbClr val="DDDDDD"/>
                </a:solidFill>
                <a:latin typeface="Calibri"/>
              </a:rPr>
              <a:t>cloud HPC cost for full MC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Quantum Amplitude Estimation (QAE)</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Quadratic Speedup Over Classical Monte Carlo — A Proven Quantum Advantage</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01168" y="1207008"/>
            <a:ext cx="4892040" cy="157276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 y="1207008"/>
            <a:ext cx="57150"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280160"/>
            <a:ext cx="4617720" cy="347472"/>
          </a:xfrm>
          <a:prstGeom prst="rect">
            <a:avLst/>
          </a:prstGeom>
          <a:noFill/>
        </p:spPr>
        <p:txBody>
          <a:bodyPr wrap="square">
            <a:spAutoFit/>
          </a:bodyPr>
          <a:lstStyle/>
          <a:p>
            <a:pPr algn="l"/>
            <a:r>
              <a:rPr sz="1100" b="1" i="0">
                <a:solidFill>
                  <a:srgbClr val="FFFFFF"/>
                </a:solidFill>
                <a:latin typeface="Calibri"/>
              </a:rPr>
              <a:t>How QAE Works</a:t>
            </a:r>
          </a:p>
        </p:txBody>
      </p:sp>
      <p:sp>
        <p:nvSpPr>
          <p:cNvPr id="14" name="TextBox 13"/>
          <p:cNvSpPr txBox="1"/>
          <p:nvPr/>
        </p:nvSpPr>
        <p:spPr>
          <a:xfrm>
            <a:off x="347472" y="1627632"/>
            <a:ext cx="4617720" cy="1078992"/>
          </a:xfrm>
          <a:prstGeom prst="rect">
            <a:avLst/>
          </a:prstGeom>
          <a:noFill/>
        </p:spPr>
        <p:txBody>
          <a:bodyPr wrap="square">
            <a:spAutoFit/>
          </a:bodyPr>
          <a:lstStyle/>
          <a:p>
            <a:pPr algn="l"/>
            <a:r>
              <a:rPr sz="900" b="0" i="0">
                <a:solidFill>
                  <a:srgbClr val="F7F7F7"/>
                </a:solidFill>
                <a:latin typeface="Calibri"/>
              </a:rPr>
              <a:t>QAE encodes the probability distribution of financial outcomes into a quantum state. By measuring the amplitude of the 'good outcome' state, it estimates the expected value with error ε using only O(1/ε) circuit evaluations — vs O(1/ε²) classically.</a:t>
            </a:r>
          </a:p>
        </p:txBody>
      </p:sp>
      <p:sp>
        <p:nvSpPr>
          <p:cNvPr id="15" name="Rectangle 14"/>
          <p:cNvSpPr/>
          <p:nvPr/>
        </p:nvSpPr>
        <p:spPr>
          <a:xfrm>
            <a:off x="201168" y="2898648"/>
            <a:ext cx="4892040" cy="1572768"/>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 y="2898648"/>
            <a:ext cx="57150"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7472" y="2971800"/>
            <a:ext cx="4617720" cy="347472"/>
          </a:xfrm>
          <a:prstGeom prst="rect">
            <a:avLst/>
          </a:prstGeom>
          <a:noFill/>
        </p:spPr>
        <p:txBody>
          <a:bodyPr wrap="square">
            <a:spAutoFit/>
          </a:bodyPr>
          <a:lstStyle/>
          <a:p>
            <a:pPr algn="l"/>
            <a:r>
              <a:rPr sz="1100" b="1" i="0">
                <a:solidFill>
                  <a:srgbClr val="FFFFFF"/>
                </a:solidFill>
                <a:latin typeface="Calibri"/>
              </a:rPr>
              <a:t>Quadratic Speedup</a:t>
            </a:r>
          </a:p>
        </p:txBody>
      </p:sp>
      <p:sp>
        <p:nvSpPr>
          <p:cNvPr id="18" name="TextBox 17"/>
          <p:cNvSpPr txBox="1"/>
          <p:nvPr/>
        </p:nvSpPr>
        <p:spPr>
          <a:xfrm>
            <a:off x="347472" y="3319272"/>
            <a:ext cx="4617720" cy="1078992"/>
          </a:xfrm>
          <a:prstGeom prst="rect">
            <a:avLst/>
          </a:prstGeom>
          <a:noFill/>
        </p:spPr>
        <p:txBody>
          <a:bodyPr wrap="square">
            <a:spAutoFit/>
          </a:bodyPr>
          <a:lstStyle/>
          <a:p>
            <a:pPr algn="l"/>
            <a:r>
              <a:rPr sz="900" b="0" i="0">
                <a:solidFill>
                  <a:srgbClr val="F7F7F7"/>
                </a:solidFill>
                <a:latin typeface="Calibri"/>
              </a:rPr>
              <a:t>Classical MC accuracy ∝ 1/√N (needs N=10M for ε=0.001)
Quantum QAE accuracy ∝ 1/N (needs N=1,000 for same ε)
That's a 10,000× reduction in required evaluations.</a:t>
            </a:r>
          </a:p>
        </p:txBody>
      </p:sp>
      <p:sp>
        <p:nvSpPr>
          <p:cNvPr id="19" name="Rectangle 18"/>
          <p:cNvSpPr/>
          <p:nvPr/>
        </p:nvSpPr>
        <p:spPr>
          <a:xfrm>
            <a:off x="201168" y="4590288"/>
            <a:ext cx="4892040" cy="1572768"/>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 y="4590288"/>
            <a:ext cx="57150"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4663440"/>
            <a:ext cx="4617720" cy="347472"/>
          </a:xfrm>
          <a:prstGeom prst="rect">
            <a:avLst/>
          </a:prstGeom>
          <a:noFill/>
        </p:spPr>
        <p:txBody>
          <a:bodyPr wrap="square">
            <a:spAutoFit/>
          </a:bodyPr>
          <a:lstStyle/>
          <a:p>
            <a:pPr algn="l"/>
            <a:r>
              <a:rPr sz="1100" b="1" i="0">
                <a:solidFill>
                  <a:srgbClr val="FFFFFF"/>
                </a:solidFill>
                <a:latin typeface="Calibri"/>
              </a:rPr>
              <a:t>Financial Applications</a:t>
            </a:r>
          </a:p>
        </p:txBody>
      </p:sp>
      <p:sp>
        <p:nvSpPr>
          <p:cNvPr id="22" name="TextBox 21"/>
          <p:cNvSpPr txBox="1"/>
          <p:nvPr/>
        </p:nvSpPr>
        <p:spPr>
          <a:xfrm>
            <a:off x="347472" y="5010912"/>
            <a:ext cx="4617720" cy="1078992"/>
          </a:xfrm>
          <a:prstGeom prst="rect">
            <a:avLst/>
          </a:prstGeom>
          <a:noFill/>
        </p:spPr>
        <p:txBody>
          <a:bodyPr wrap="square">
            <a:spAutoFit/>
          </a:bodyPr>
          <a:lstStyle/>
          <a:p>
            <a:pPr algn="l"/>
            <a:r>
              <a:rPr sz="900" b="0" i="0">
                <a:solidFill>
                  <a:srgbClr val="F7F7F7"/>
                </a:solidFill>
                <a:latin typeface="Calibri"/>
              </a:rPr>
              <a:t>• European/Asian option pricing
• VaR and CVA estimation
• Expected shortfall
• Credit portfolio loss distributions
• Counterparty exposure profiles</a:t>
            </a:r>
          </a:p>
        </p:txBody>
      </p:sp>
      <p:sp>
        <p:nvSpPr>
          <p:cNvPr id="23" name="Rectangle 22"/>
          <p:cNvSpPr/>
          <p:nvPr/>
        </p:nvSpPr>
        <p:spPr>
          <a:xfrm>
            <a:off x="201168" y="6236208"/>
            <a:ext cx="4892040"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6254496"/>
            <a:ext cx="4736592" cy="347472"/>
          </a:xfrm>
          <a:prstGeom prst="rect">
            <a:avLst/>
          </a:prstGeom>
          <a:noFill/>
        </p:spPr>
        <p:txBody>
          <a:bodyPr wrap="square">
            <a:spAutoFit/>
          </a:bodyPr>
          <a:lstStyle/>
          <a:p>
            <a:pPr algn="l"/>
            <a:r>
              <a:rPr sz="950" b="1" i="1">
                <a:solidFill>
                  <a:srgbClr val="FFFFFF"/>
                </a:solidFill>
                <a:latin typeface="Calibri"/>
              </a:rPr>
              <a:t>"QAE can reduce required simulations by 10,000× for equivalent accuracy."</a:t>
            </a:r>
          </a:p>
        </p:txBody>
      </p:sp>
      <p:pic>
        <p:nvPicPr>
          <p:cNvPr id="25" name="Picture 24" descr="image.png"/>
          <p:cNvPicPr>
            <a:picLocks noChangeAspect="1"/>
          </p:cNvPicPr>
          <p:nvPr/>
        </p:nvPicPr>
        <p:blipFill>
          <a:blip r:embed="rId2"/>
          <a:stretch>
            <a:fillRect/>
          </a:stretch>
        </p:blipFill>
        <p:spPr>
          <a:xfrm>
            <a:off x="5230368" y="1170432"/>
            <a:ext cx="6720840" cy="3584882"/>
          </a:xfrm>
          <a:prstGeom prst="rect">
            <a:avLst/>
          </a:prstGeom>
        </p:spPr>
      </p:pic>
      <p:sp>
        <p:nvSpPr>
          <p:cNvPr id="26" name="Rectangle 25"/>
          <p:cNvSpPr/>
          <p:nvPr/>
        </p:nvSpPr>
        <p:spPr>
          <a:xfrm>
            <a:off x="5230368" y="5193792"/>
            <a:ext cx="6720840" cy="1435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0368" y="5193792"/>
            <a:ext cx="6720840"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76672" y="5248656"/>
            <a:ext cx="6400800" cy="274320"/>
          </a:xfrm>
          <a:prstGeom prst="rect">
            <a:avLst/>
          </a:prstGeom>
          <a:noFill/>
        </p:spPr>
        <p:txBody>
          <a:bodyPr wrap="square">
            <a:spAutoFit/>
          </a:bodyPr>
          <a:lstStyle/>
          <a:p>
            <a:pPr algn="l"/>
            <a:r>
              <a:rPr sz="950" b="1" i="0">
                <a:solidFill>
                  <a:srgbClr val="CC0000"/>
                </a:solidFill>
                <a:latin typeface="Calibri"/>
              </a:rPr>
              <a:t>Key Complexity Formulae</a:t>
            </a:r>
          </a:p>
        </p:txBody>
      </p:sp>
      <p:sp>
        <p:nvSpPr>
          <p:cNvPr id="29" name="TextBox 28"/>
          <p:cNvSpPr txBox="1"/>
          <p:nvPr/>
        </p:nvSpPr>
        <p:spPr>
          <a:xfrm>
            <a:off x="5376672" y="5559552"/>
            <a:ext cx="6400800" cy="301752"/>
          </a:xfrm>
          <a:prstGeom prst="rect">
            <a:avLst/>
          </a:prstGeom>
          <a:noFill/>
        </p:spPr>
        <p:txBody>
          <a:bodyPr wrap="square">
            <a:spAutoFit/>
          </a:bodyPr>
          <a:lstStyle/>
          <a:p>
            <a:pPr algn="l"/>
            <a:r>
              <a:rPr sz="850" b="0" i="0">
                <a:solidFill>
                  <a:srgbClr val="F7F7F7"/>
                </a:solidFill>
                <a:latin typeface="Courier New"/>
              </a:rPr>
              <a:t>Classical MC:   ε = O(1/√N)   →   N = O(1/ε²)</a:t>
            </a:r>
          </a:p>
        </p:txBody>
      </p:sp>
      <p:sp>
        <p:nvSpPr>
          <p:cNvPr id="30" name="TextBox 29"/>
          <p:cNvSpPr txBox="1"/>
          <p:nvPr/>
        </p:nvSpPr>
        <p:spPr>
          <a:xfrm>
            <a:off x="5376672" y="5879592"/>
            <a:ext cx="6400800" cy="301752"/>
          </a:xfrm>
          <a:prstGeom prst="rect">
            <a:avLst/>
          </a:prstGeom>
          <a:noFill/>
        </p:spPr>
        <p:txBody>
          <a:bodyPr wrap="square">
            <a:spAutoFit/>
          </a:bodyPr>
          <a:lstStyle/>
          <a:p>
            <a:pPr algn="l"/>
            <a:r>
              <a:rPr sz="850" b="0" i="0">
                <a:solidFill>
                  <a:srgbClr val="F7F7F7"/>
                </a:solidFill>
                <a:latin typeface="Courier New"/>
              </a:rPr>
              <a:t>Quantum QAE:  ε = O(1/N)    →   N = O(1/ε)</a:t>
            </a:r>
          </a:p>
        </p:txBody>
      </p:sp>
      <p:sp>
        <p:nvSpPr>
          <p:cNvPr id="31" name="TextBox 30"/>
          <p:cNvSpPr txBox="1"/>
          <p:nvPr/>
        </p:nvSpPr>
        <p:spPr>
          <a:xfrm>
            <a:off x="5376672" y="6199632"/>
            <a:ext cx="6400800" cy="301752"/>
          </a:xfrm>
          <a:prstGeom prst="rect">
            <a:avLst/>
          </a:prstGeom>
          <a:noFill/>
        </p:spPr>
        <p:txBody>
          <a:bodyPr wrap="square">
            <a:spAutoFit/>
          </a:bodyPr>
          <a:lstStyle/>
          <a:p>
            <a:pPr algn="l"/>
            <a:r>
              <a:rPr sz="850" b="0" i="0">
                <a:solidFill>
                  <a:srgbClr val="F7F7F7"/>
                </a:solidFill>
                <a:latin typeface="Courier New"/>
              </a:rPr>
              <a:t>Speedup factor:  √N = O(1/ε^0.5)   e.g. 10,000× at ε=10⁻⁴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Business Impact for BFSI</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Quantum Computing Delivers Value Across the Entire Financial Services Value Chain</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pic>
        <p:nvPicPr>
          <p:cNvPr id="11" name="Picture 10" descr="image.png"/>
          <p:cNvPicPr>
            <a:picLocks noChangeAspect="1"/>
          </p:cNvPicPr>
          <p:nvPr/>
        </p:nvPicPr>
        <p:blipFill>
          <a:blip r:embed="rId2"/>
          <a:stretch>
            <a:fillRect/>
          </a:stretch>
        </p:blipFill>
        <p:spPr>
          <a:xfrm>
            <a:off x="5760720" y="1170432"/>
            <a:ext cx="6217920" cy="3280586"/>
          </a:xfrm>
          <a:prstGeom prst="rect">
            <a:avLst/>
          </a:prstGeom>
        </p:spPr>
      </p:pic>
      <p:sp>
        <p:nvSpPr>
          <p:cNvPr id="12" name="Rectangle 11"/>
          <p:cNvSpPr/>
          <p:nvPr/>
        </p:nvSpPr>
        <p:spPr>
          <a:xfrm>
            <a:off x="201168" y="1207008"/>
            <a:ext cx="1737360" cy="4572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 y="1207008"/>
            <a:ext cx="173736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216152"/>
            <a:ext cx="1627632" cy="438912"/>
          </a:xfrm>
          <a:prstGeom prst="rect">
            <a:avLst/>
          </a:prstGeom>
          <a:noFill/>
        </p:spPr>
        <p:txBody>
          <a:bodyPr wrap="square">
            <a:spAutoFit/>
          </a:bodyPr>
          <a:lstStyle/>
          <a:p>
            <a:pPr algn="ctr"/>
            <a:r>
              <a:rPr sz="950" b="1" i="0">
                <a:solidFill>
                  <a:srgbClr val="FFFFFF"/>
                </a:solidFill>
                <a:latin typeface="Calibri"/>
              </a:rPr>
              <a:t>PORTFOLIO
OPTIMIZATION</a:t>
            </a:r>
          </a:p>
        </p:txBody>
      </p:sp>
      <p:sp>
        <p:nvSpPr>
          <p:cNvPr id="15" name="Rectangle 14"/>
          <p:cNvSpPr/>
          <p:nvPr/>
        </p:nvSpPr>
        <p:spPr>
          <a:xfrm>
            <a:off x="201168" y="1737360"/>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 y="1737360"/>
            <a:ext cx="50800" cy="8686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 y="1783080"/>
            <a:ext cx="1600200" cy="804672"/>
          </a:xfrm>
          <a:prstGeom prst="rect">
            <a:avLst/>
          </a:prstGeom>
          <a:noFill/>
        </p:spPr>
        <p:txBody>
          <a:bodyPr wrap="square">
            <a:spAutoFit/>
          </a:bodyPr>
          <a:lstStyle/>
          <a:p>
            <a:pPr algn="l"/>
            <a:r>
              <a:rPr sz="850" b="0" i="0">
                <a:solidFill>
                  <a:srgbClr val="1A1A1A"/>
                </a:solidFill>
                <a:latin typeface="Calibri"/>
              </a:rPr>
              <a:t>Better asset allocation
across 1000s of securities</a:t>
            </a:r>
          </a:p>
        </p:txBody>
      </p:sp>
      <p:sp>
        <p:nvSpPr>
          <p:cNvPr id="18" name="Rectangle 17"/>
          <p:cNvSpPr/>
          <p:nvPr/>
        </p:nvSpPr>
        <p:spPr>
          <a:xfrm>
            <a:off x="201168" y="2679191"/>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1168" y="2679191"/>
            <a:ext cx="50800" cy="8686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724911"/>
            <a:ext cx="1600200" cy="804672"/>
          </a:xfrm>
          <a:prstGeom prst="rect">
            <a:avLst/>
          </a:prstGeom>
          <a:noFill/>
        </p:spPr>
        <p:txBody>
          <a:bodyPr wrap="square">
            <a:spAutoFit/>
          </a:bodyPr>
          <a:lstStyle/>
          <a:p>
            <a:pPr algn="l"/>
            <a:r>
              <a:rPr sz="850" b="0" i="0">
                <a:solidFill>
                  <a:srgbClr val="1A1A1A"/>
                </a:solidFill>
                <a:latin typeface="Calibri"/>
              </a:rPr>
              <a:t>Enhanced Sharpe ratio
via quantum frontier</a:t>
            </a:r>
          </a:p>
        </p:txBody>
      </p:sp>
      <p:sp>
        <p:nvSpPr>
          <p:cNvPr id="21" name="Rectangle 20"/>
          <p:cNvSpPr/>
          <p:nvPr/>
        </p:nvSpPr>
        <p:spPr>
          <a:xfrm>
            <a:off x="201168" y="3621024"/>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1168" y="3621024"/>
            <a:ext cx="50800" cy="8686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3666744"/>
            <a:ext cx="1600200" cy="804672"/>
          </a:xfrm>
          <a:prstGeom prst="rect">
            <a:avLst/>
          </a:prstGeom>
          <a:noFill/>
        </p:spPr>
        <p:txBody>
          <a:bodyPr wrap="square">
            <a:spAutoFit/>
          </a:bodyPr>
          <a:lstStyle/>
          <a:p>
            <a:pPr algn="l"/>
            <a:r>
              <a:rPr sz="850" b="0" i="0">
                <a:solidFill>
                  <a:srgbClr val="1A1A1A"/>
                </a:solidFill>
                <a:latin typeface="Calibri"/>
              </a:rPr>
              <a:t>Cardinality-constrained
selection at scale</a:t>
            </a:r>
          </a:p>
        </p:txBody>
      </p:sp>
      <p:sp>
        <p:nvSpPr>
          <p:cNvPr id="24" name="Rectangle 23"/>
          <p:cNvSpPr/>
          <p:nvPr/>
        </p:nvSpPr>
        <p:spPr>
          <a:xfrm>
            <a:off x="201168" y="4562856"/>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01168" y="4562856"/>
            <a:ext cx="50800" cy="8686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4608576"/>
            <a:ext cx="1600200" cy="804672"/>
          </a:xfrm>
          <a:prstGeom prst="rect">
            <a:avLst/>
          </a:prstGeom>
          <a:noFill/>
        </p:spPr>
        <p:txBody>
          <a:bodyPr wrap="square">
            <a:spAutoFit/>
          </a:bodyPr>
          <a:lstStyle/>
          <a:p>
            <a:pPr algn="l"/>
            <a:r>
              <a:rPr sz="850" b="0" i="0">
                <a:solidFill>
                  <a:srgbClr val="1A1A1A"/>
                </a:solidFill>
                <a:latin typeface="Calibri"/>
              </a:rPr>
              <a:t>Multi-period rebalancing
with transaction costs</a:t>
            </a:r>
          </a:p>
        </p:txBody>
      </p:sp>
      <p:sp>
        <p:nvSpPr>
          <p:cNvPr id="27" name="Rectangle 26"/>
          <p:cNvSpPr/>
          <p:nvPr/>
        </p:nvSpPr>
        <p:spPr>
          <a:xfrm>
            <a:off x="201168" y="5504688"/>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1168" y="5504688"/>
            <a:ext cx="50800" cy="86868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2608" y="5550408"/>
            <a:ext cx="1600200" cy="804672"/>
          </a:xfrm>
          <a:prstGeom prst="rect">
            <a:avLst/>
          </a:prstGeom>
          <a:noFill/>
        </p:spPr>
        <p:txBody>
          <a:bodyPr wrap="square">
            <a:spAutoFit/>
          </a:bodyPr>
          <a:lstStyle/>
          <a:p>
            <a:pPr algn="l"/>
            <a:r>
              <a:rPr sz="850" b="0" i="0">
                <a:solidFill>
                  <a:srgbClr val="1A1A1A"/>
                </a:solidFill>
                <a:latin typeface="Calibri"/>
              </a:rPr>
              <a:t>ESG-aware optimization
without quality compromise</a:t>
            </a:r>
          </a:p>
        </p:txBody>
      </p:sp>
      <p:sp>
        <p:nvSpPr>
          <p:cNvPr id="30" name="Rectangle 29"/>
          <p:cNvSpPr/>
          <p:nvPr/>
        </p:nvSpPr>
        <p:spPr>
          <a:xfrm>
            <a:off x="2048256" y="1207008"/>
            <a:ext cx="1737360"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048256" y="1207008"/>
            <a:ext cx="173736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21408" y="1216152"/>
            <a:ext cx="1627632" cy="438912"/>
          </a:xfrm>
          <a:prstGeom prst="rect">
            <a:avLst/>
          </a:prstGeom>
          <a:noFill/>
        </p:spPr>
        <p:txBody>
          <a:bodyPr wrap="square">
            <a:spAutoFit/>
          </a:bodyPr>
          <a:lstStyle/>
          <a:p>
            <a:pPr algn="ctr"/>
            <a:r>
              <a:rPr sz="950" b="1" i="0">
                <a:solidFill>
                  <a:srgbClr val="FFFFFF"/>
                </a:solidFill>
                <a:latin typeface="Calibri"/>
              </a:rPr>
              <a:t>RISK
ANALYTICS</a:t>
            </a:r>
          </a:p>
        </p:txBody>
      </p:sp>
      <p:sp>
        <p:nvSpPr>
          <p:cNvPr id="33" name="Rectangle 32"/>
          <p:cNvSpPr/>
          <p:nvPr/>
        </p:nvSpPr>
        <p:spPr>
          <a:xfrm>
            <a:off x="2048256" y="1737360"/>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48256" y="1737360"/>
            <a:ext cx="50800" cy="8686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139696" y="1783080"/>
            <a:ext cx="1600200" cy="804672"/>
          </a:xfrm>
          <a:prstGeom prst="rect">
            <a:avLst/>
          </a:prstGeom>
          <a:noFill/>
        </p:spPr>
        <p:txBody>
          <a:bodyPr wrap="square">
            <a:spAutoFit/>
          </a:bodyPr>
          <a:lstStyle/>
          <a:p>
            <a:pPr algn="l"/>
            <a:r>
              <a:rPr sz="850" b="0" i="0">
                <a:solidFill>
                  <a:srgbClr val="1A1A1A"/>
                </a:solidFill>
                <a:latin typeface="Calibri"/>
              </a:rPr>
              <a:t>Accelerated VaR: hours
→ minutes</a:t>
            </a:r>
          </a:p>
        </p:txBody>
      </p:sp>
      <p:sp>
        <p:nvSpPr>
          <p:cNvPr id="36" name="Rectangle 35"/>
          <p:cNvSpPr/>
          <p:nvPr/>
        </p:nvSpPr>
        <p:spPr>
          <a:xfrm>
            <a:off x="2048256" y="2679191"/>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48256" y="2679191"/>
            <a:ext cx="50800" cy="8686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39696" y="2724911"/>
            <a:ext cx="1600200" cy="804672"/>
          </a:xfrm>
          <a:prstGeom prst="rect">
            <a:avLst/>
          </a:prstGeom>
          <a:noFill/>
        </p:spPr>
        <p:txBody>
          <a:bodyPr wrap="square">
            <a:spAutoFit/>
          </a:bodyPr>
          <a:lstStyle/>
          <a:p>
            <a:pPr algn="l"/>
            <a:r>
              <a:rPr sz="850" b="0" i="0">
                <a:solidFill>
                  <a:srgbClr val="1A1A1A"/>
                </a:solidFill>
                <a:latin typeface="Calibri"/>
              </a:rPr>
              <a:t>Real-time CVA pricing
for derivatives trading</a:t>
            </a:r>
          </a:p>
        </p:txBody>
      </p:sp>
      <p:sp>
        <p:nvSpPr>
          <p:cNvPr id="39" name="Rectangle 38"/>
          <p:cNvSpPr/>
          <p:nvPr/>
        </p:nvSpPr>
        <p:spPr>
          <a:xfrm>
            <a:off x="2048256" y="3621024"/>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048256" y="3621024"/>
            <a:ext cx="50800" cy="8686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39696" y="3666744"/>
            <a:ext cx="1600200" cy="804672"/>
          </a:xfrm>
          <a:prstGeom prst="rect">
            <a:avLst/>
          </a:prstGeom>
          <a:noFill/>
        </p:spPr>
        <p:txBody>
          <a:bodyPr wrap="square">
            <a:spAutoFit/>
          </a:bodyPr>
          <a:lstStyle/>
          <a:p>
            <a:pPr algn="l"/>
            <a:r>
              <a:rPr sz="850" b="0" i="0">
                <a:solidFill>
                  <a:srgbClr val="1A1A1A"/>
                </a:solidFill>
                <a:latin typeface="Calibri"/>
              </a:rPr>
              <a:t>FRTB Internal Model
stress test coverage</a:t>
            </a:r>
          </a:p>
        </p:txBody>
      </p:sp>
      <p:sp>
        <p:nvSpPr>
          <p:cNvPr id="42" name="Rectangle 41"/>
          <p:cNvSpPr/>
          <p:nvPr/>
        </p:nvSpPr>
        <p:spPr>
          <a:xfrm>
            <a:off x="2048256" y="4562856"/>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048256" y="4562856"/>
            <a:ext cx="50800" cy="8686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39696" y="4608576"/>
            <a:ext cx="1600200" cy="804672"/>
          </a:xfrm>
          <a:prstGeom prst="rect">
            <a:avLst/>
          </a:prstGeom>
          <a:noFill/>
        </p:spPr>
        <p:txBody>
          <a:bodyPr wrap="square">
            <a:spAutoFit/>
          </a:bodyPr>
          <a:lstStyle/>
          <a:p>
            <a:pPr algn="l"/>
            <a:r>
              <a:rPr sz="850" b="0" i="0">
                <a:solidFill>
                  <a:srgbClr val="1A1A1A"/>
                </a:solidFill>
                <a:latin typeface="Calibri"/>
              </a:rPr>
              <a:t>10,000× MC path
reduction with QAE</a:t>
            </a:r>
          </a:p>
        </p:txBody>
      </p:sp>
      <p:sp>
        <p:nvSpPr>
          <p:cNvPr id="45" name="Rectangle 44"/>
          <p:cNvSpPr/>
          <p:nvPr/>
        </p:nvSpPr>
        <p:spPr>
          <a:xfrm>
            <a:off x="2048256" y="5504688"/>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048256" y="5504688"/>
            <a:ext cx="50800" cy="8686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39696" y="5550408"/>
            <a:ext cx="1600200" cy="804672"/>
          </a:xfrm>
          <a:prstGeom prst="rect">
            <a:avLst/>
          </a:prstGeom>
          <a:noFill/>
        </p:spPr>
        <p:txBody>
          <a:bodyPr wrap="square">
            <a:spAutoFit/>
          </a:bodyPr>
          <a:lstStyle/>
          <a:p>
            <a:pPr algn="l"/>
            <a:r>
              <a:rPr sz="850" b="0" i="0">
                <a:solidFill>
                  <a:srgbClr val="1A1A1A"/>
                </a:solidFill>
                <a:latin typeface="Calibri"/>
              </a:rPr>
              <a:t>Counterparty credit risk
scenario acceleration</a:t>
            </a:r>
          </a:p>
        </p:txBody>
      </p:sp>
      <p:sp>
        <p:nvSpPr>
          <p:cNvPr id="48" name="Rectangle 47"/>
          <p:cNvSpPr/>
          <p:nvPr/>
        </p:nvSpPr>
        <p:spPr>
          <a:xfrm>
            <a:off x="3895344" y="1207008"/>
            <a:ext cx="1737360" cy="45720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895344" y="1207008"/>
            <a:ext cx="173736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68496" y="1216152"/>
            <a:ext cx="1627632" cy="438912"/>
          </a:xfrm>
          <a:prstGeom prst="rect">
            <a:avLst/>
          </a:prstGeom>
          <a:noFill/>
        </p:spPr>
        <p:txBody>
          <a:bodyPr wrap="square">
            <a:spAutoFit/>
          </a:bodyPr>
          <a:lstStyle/>
          <a:p>
            <a:pPr algn="ctr"/>
            <a:r>
              <a:rPr sz="950" b="1" i="0">
                <a:solidFill>
                  <a:srgbClr val="FFFFFF"/>
                </a:solidFill>
                <a:latin typeface="Calibri"/>
              </a:rPr>
              <a:t>STRATEGIC
BENEFITS</a:t>
            </a:r>
          </a:p>
        </p:txBody>
      </p:sp>
      <p:sp>
        <p:nvSpPr>
          <p:cNvPr id="51" name="Rectangle 50"/>
          <p:cNvSpPr/>
          <p:nvPr/>
        </p:nvSpPr>
        <p:spPr>
          <a:xfrm>
            <a:off x="3895344" y="1737360"/>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895344" y="1737360"/>
            <a:ext cx="50800" cy="86868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86784" y="1783080"/>
            <a:ext cx="1600200" cy="804672"/>
          </a:xfrm>
          <a:prstGeom prst="rect">
            <a:avLst/>
          </a:prstGeom>
          <a:noFill/>
        </p:spPr>
        <p:txBody>
          <a:bodyPr wrap="square">
            <a:spAutoFit/>
          </a:bodyPr>
          <a:lstStyle/>
          <a:p>
            <a:pPr algn="l"/>
            <a:r>
              <a:rPr sz="850" b="0" i="0">
                <a:solidFill>
                  <a:srgbClr val="1A1A1A"/>
                </a:solidFill>
                <a:latin typeface="Calibri"/>
              </a:rPr>
              <a:t>First-mover advantage in
quantum-native pricing</a:t>
            </a:r>
          </a:p>
        </p:txBody>
      </p:sp>
      <p:sp>
        <p:nvSpPr>
          <p:cNvPr id="54" name="Rectangle 53"/>
          <p:cNvSpPr/>
          <p:nvPr/>
        </p:nvSpPr>
        <p:spPr>
          <a:xfrm>
            <a:off x="3895344" y="2679191"/>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895344" y="2679191"/>
            <a:ext cx="50800" cy="86868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986784" y="2724911"/>
            <a:ext cx="1600200" cy="804672"/>
          </a:xfrm>
          <a:prstGeom prst="rect">
            <a:avLst/>
          </a:prstGeom>
          <a:noFill/>
        </p:spPr>
        <p:txBody>
          <a:bodyPr wrap="square">
            <a:spAutoFit/>
          </a:bodyPr>
          <a:lstStyle/>
          <a:p>
            <a:pPr algn="l"/>
            <a:r>
              <a:rPr sz="850" b="0" i="0">
                <a:solidFill>
                  <a:srgbClr val="1A1A1A"/>
                </a:solidFill>
                <a:latin typeface="Calibri"/>
              </a:rPr>
              <a:t>Reduced cloud HPC
costs (est. 40–60%)</a:t>
            </a:r>
          </a:p>
        </p:txBody>
      </p:sp>
      <p:sp>
        <p:nvSpPr>
          <p:cNvPr id="57" name="Rectangle 56"/>
          <p:cNvSpPr/>
          <p:nvPr/>
        </p:nvSpPr>
        <p:spPr>
          <a:xfrm>
            <a:off x="3895344" y="3621024"/>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895344" y="3621024"/>
            <a:ext cx="50800" cy="86868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986784" y="3666744"/>
            <a:ext cx="1600200" cy="804672"/>
          </a:xfrm>
          <a:prstGeom prst="rect">
            <a:avLst/>
          </a:prstGeom>
          <a:noFill/>
        </p:spPr>
        <p:txBody>
          <a:bodyPr wrap="square">
            <a:spAutoFit/>
          </a:bodyPr>
          <a:lstStyle/>
          <a:p>
            <a:pPr algn="l"/>
            <a:r>
              <a:rPr sz="850" b="0" i="0">
                <a:solidFill>
                  <a:srgbClr val="1A1A1A"/>
                </a:solidFill>
                <a:latin typeface="Calibri"/>
              </a:rPr>
              <a:t>Faster time-to-market
for structured products</a:t>
            </a:r>
          </a:p>
        </p:txBody>
      </p:sp>
      <p:sp>
        <p:nvSpPr>
          <p:cNvPr id="60" name="Rectangle 59"/>
          <p:cNvSpPr/>
          <p:nvPr/>
        </p:nvSpPr>
        <p:spPr>
          <a:xfrm>
            <a:off x="3895344" y="4562856"/>
            <a:ext cx="1737360" cy="868680"/>
          </a:xfrm>
          <a:prstGeom prst="rect">
            <a:avLst/>
          </a:prstGeom>
          <a:solidFill>
            <a:srgbClr val="FFFFFF"/>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895344" y="4562856"/>
            <a:ext cx="50800" cy="86868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986784" y="4608576"/>
            <a:ext cx="1600200" cy="804672"/>
          </a:xfrm>
          <a:prstGeom prst="rect">
            <a:avLst/>
          </a:prstGeom>
          <a:noFill/>
        </p:spPr>
        <p:txBody>
          <a:bodyPr wrap="square">
            <a:spAutoFit/>
          </a:bodyPr>
          <a:lstStyle/>
          <a:p>
            <a:pPr algn="l"/>
            <a:r>
              <a:rPr sz="850" b="0" i="0">
                <a:solidFill>
                  <a:srgbClr val="1A1A1A"/>
                </a:solidFill>
                <a:latin typeface="Calibri"/>
              </a:rPr>
              <a:t>Regulatory capital
optimization potential</a:t>
            </a:r>
          </a:p>
        </p:txBody>
      </p:sp>
      <p:sp>
        <p:nvSpPr>
          <p:cNvPr id="63" name="Rectangle 62"/>
          <p:cNvSpPr/>
          <p:nvPr/>
        </p:nvSpPr>
        <p:spPr>
          <a:xfrm>
            <a:off x="3895344" y="5504688"/>
            <a:ext cx="1737360" cy="868680"/>
          </a:xfrm>
          <a:prstGeom prst="rect">
            <a:avLst/>
          </a:prstGeom>
          <a:solidFill>
            <a:srgbClr val="F7F7F7"/>
          </a:solidFill>
          <a:ln w="508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895344" y="5504688"/>
            <a:ext cx="50800" cy="868680"/>
          </a:xfrm>
          <a:prstGeom prst="rect">
            <a:avLst/>
          </a:prstGeom>
          <a:solidFill>
            <a:srgbClr val="1A6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986784" y="5550408"/>
            <a:ext cx="1600200" cy="804672"/>
          </a:xfrm>
          <a:prstGeom prst="rect">
            <a:avLst/>
          </a:prstGeom>
          <a:noFill/>
        </p:spPr>
        <p:txBody>
          <a:bodyPr wrap="square">
            <a:spAutoFit/>
          </a:bodyPr>
          <a:lstStyle/>
          <a:p>
            <a:pPr algn="l"/>
            <a:r>
              <a:rPr sz="850" b="0" i="0">
                <a:solidFill>
                  <a:srgbClr val="1A1A1A"/>
                </a:solidFill>
                <a:latin typeface="Calibri"/>
              </a:rPr>
              <a:t>Talent magnet for
quant talent pipeline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Challenges &amp; Quantum Readiness</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Understanding the Gap Between Current Hardware and Commercial Deployment</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01168" y="1207008"/>
            <a:ext cx="2761488" cy="21488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1168" y="1207008"/>
            <a:ext cx="276148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 y="1280160"/>
            <a:ext cx="2560320" cy="457200"/>
          </a:xfrm>
          <a:prstGeom prst="rect">
            <a:avLst/>
          </a:prstGeom>
          <a:noFill/>
        </p:spPr>
        <p:txBody>
          <a:bodyPr wrap="square">
            <a:spAutoFit/>
          </a:bodyPr>
          <a:lstStyle/>
          <a:p>
            <a:pPr algn="l"/>
            <a:r>
              <a:rPr sz="1100" b="1" i="0">
                <a:solidFill>
                  <a:srgbClr val="FFFFFF"/>
                </a:solidFill>
                <a:latin typeface="Calibri"/>
              </a:rPr>
              <a:t>Hardware
Limitations</a:t>
            </a:r>
          </a:p>
        </p:txBody>
      </p:sp>
      <p:sp>
        <p:nvSpPr>
          <p:cNvPr id="14" name="TextBox 13"/>
          <p:cNvSpPr txBox="1"/>
          <p:nvPr/>
        </p:nvSpPr>
        <p:spPr>
          <a:xfrm>
            <a:off x="310896" y="1737360"/>
            <a:ext cx="2560320" cy="1508760"/>
          </a:xfrm>
          <a:prstGeom prst="rect">
            <a:avLst/>
          </a:prstGeom>
          <a:noFill/>
        </p:spPr>
        <p:txBody>
          <a:bodyPr wrap="square">
            <a:spAutoFit/>
          </a:bodyPr>
          <a:lstStyle/>
          <a:p>
            <a:pPr algn="l"/>
            <a:r>
              <a:rPr sz="880" b="0" i="0">
                <a:solidFill>
                  <a:srgbClr val="F7F7F7"/>
                </a:solidFill>
                <a:latin typeface="Calibri"/>
              </a:rPr>
              <a:t>Current NISQ devices: 50–1000 qubits
with 0.1–1% gate error rates.
Fault-tolerant QC requires ~1M physical
qubits — expected 2030–2035.</a:t>
            </a:r>
          </a:p>
        </p:txBody>
      </p:sp>
      <p:sp>
        <p:nvSpPr>
          <p:cNvPr id="15" name="Rectangle 14"/>
          <p:cNvSpPr/>
          <p:nvPr/>
        </p:nvSpPr>
        <p:spPr>
          <a:xfrm>
            <a:off x="3108960" y="1207008"/>
            <a:ext cx="2761488" cy="214884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108960" y="1207008"/>
            <a:ext cx="276148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18688" y="1280160"/>
            <a:ext cx="2560320" cy="457200"/>
          </a:xfrm>
          <a:prstGeom prst="rect">
            <a:avLst/>
          </a:prstGeom>
          <a:noFill/>
        </p:spPr>
        <p:txBody>
          <a:bodyPr wrap="square">
            <a:spAutoFit/>
          </a:bodyPr>
          <a:lstStyle/>
          <a:p>
            <a:pPr algn="l"/>
            <a:r>
              <a:rPr sz="1100" b="1" i="0">
                <a:solidFill>
                  <a:srgbClr val="FFFFFF"/>
                </a:solidFill>
                <a:latin typeface="Calibri"/>
              </a:rPr>
              <a:t>Error Correction
Overhead</a:t>
            </a:r>
          </a:p>
        </p:txBody>
      </p:sp>
      <p:sp>
        <p:nvSpPr>
          <p:cNvPr id="18" name="TextBox 17"/>
          <p:cNvSpPr txBox="1"/>
          <p:nvPr/>
        </p:nvSpPr>
        <p:spPr>
          <a:xfrm>
            <a:off x="3218688" y="1737360"/>
            <a:ext cx="2560320" cy="1508760"/>
          </a:xfrm>
          <a:prstGeom prst="rect">
            <a:avLst/>
          </a:prstGeom>
          <a:noFill/>
        </p:spPr>
        <p:txBody>
          <a:bodyPr wrap="square">
            <a:spAutoFit/>
          </a:bodyPr>
          <a:lstStyle/>
          <a:p>
            <a:pPr algn="l"/>
            <a:r>
              <a:rPr sz="880" b="0" i="0">
                <a:solidFill>
                  <a:srgbClr val="F7F7F7"/>
                </a:solidFill>
                <a:latin typeface="Calibri"/>
              </a:rPr>
              <a:t>Logical qubits require ~1,000 physical
qubits each for error correction.
Surface code error correction adds
significant circuit depth and latency.</a:t>
            </a:r>
          </a:p>
        </p:txBody>
      </p:sp>
      <p:sp>
        <p:nvSpPr>
          <p:cNvPr id="19" name="Rectangle 18"/>
          <p:cNvSpPr/>
          <p:nvPr/>
        </p:nvSpPr>
        <p:spPr>
          <a:xfrm>
            <a:off x="201168" y="3493008"/>
            <a:ext cx="2761488" cy="214884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 y="3493008"/>
            <a:ext cx="276148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 y="3566160"/>
            <a:ext cx="2560320" cy="457200"/>
          </a:xfrm>
          <a:prstGeom prst="rect">
            <a:avLst/>
          </a:prstGeom>
          <a:noFill/>
        </p:spPr>
        <p:txBody>
          <a:bodyPr wrap="square">
            <a:spAutoFit/>
          </a:bodyPr>
          <a:lstStyle/>
          <a:p>
            <a:pPr algn="l"/>
            <a:r>
              <a:rPr sz="1100" b="1" i="0">
                <a:solidFill>
                  <a:srgbClr val="FFFFFF"/>
                </a:solidFill>
                <a:latin typeface="Calibri"/>
              </a:rPr>
              <a:t>Talent &amp; Skills Gap</a:t>
            </a:r>
          </a:p>
        </p:txBody>
      </p:sp>
      <p:sp>
        <p:nvSpPr>
          <p:cNvPr id="22" name="TextBox 21"/>
          <p:cNvSpPr txBox="1"/>
          <p:nvPr/>
        </p:nvSpPr>
        <p:spPr>
          <a:xfrm>
            <a:off x="310896" y="4023360"/>
            <a:ext cx="2560320" cy="1508760"/>
          </a:xfrm>
          <a:prstGeom prst="rect">
            <a:avLst/>
          </a:prstGeom>
          <a:noFill/>
        </p:spPr>
        <p:txBody>
          <a:bodyPr wrap="square">
            <a:spAutoFit/>
          </a:bodyPr>
          <a:lstStyle/>
          <a:p>
            <a:pPr algn="l"/>
            <a:r>
              <a:rPr sz="880" b="0" i="0">
                <a:solidFill>
                  <a:srgbClr val="F7F7F7"/>
                </a:solidFill>
                <a:latin typeface="Calibri"/>
              </a:rPr>
              <a:t>Quantum engineers with finance domain
knowledge are extremely rare.
Most banks have 5–20 quantum
researchers globally; need is 10×.</a:t>
            </a:r>
          </a:p>
        </p:txBody>
      </p:sp>
      <p:sp>
        <p:nvSpPr>
          <p:cNvPr id="23" name="Rectangle 22"/>
          <p:cNvSpPr/>
          <p:nvPr/>
        </p:nvSpPr>
        <p:spPr>
          <a:xfrm>
            <a:off x="3108960" y="3493008"/>
            <a:ext cx="2761488" cy="2148840"/>
          </a:xfrm>
          <a:prstGeom prst="rect">
            <a:avLst/>
          </a:prstGeom>
          <a:solidFill>
            <a:srgbClr val="5A5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08960" y="3493008"/>
            <a:ext cx="2761488"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18688" y="3566160"/>
            <a:ext cx="2560320" cy="457200"/>
          </a:xfrm>
          <a:prstGeom prst="rect">
            <a:avLst/>
          </a:prstGeom>
          <a:noFill/>
        </p:spPr>
        <p:txBody>
          <a:bodyPr wrap="square">
            <a:spAutoFit/>
          </a:bodyPr>
          <a:lstStyle/>
          <a:p>
            <a:pPr algn="l"/>
            <a:r>
              <a:rPr sz="1100" b="1" i="0">
                <a:solidFill>
                  <a:srgbClr val="FFFFFF"/>
                </a:solidFill>
                <a:latin typeface="Calibri"/>
              </a:rPr>
              <a:t>Integration
Complexity</a:t>
            </a:r>
          </a:p>
        </p:txBody>
      </p:sp>
      <p:sp>
        <p:nvSpPr>
          <p:cNvPr id="26" name="TextBox 25"/>
          <p:cNvSpPr txBox="1"/>
          <p:nvPr/>
        </p:nvSpPr>
        <p:spPr>
          <a:xfrm>
            <a:off x="3218688" y="4023360"/>
            <a:ext cx="2560320" cy="1508760"/>
          </a:xfrm>
          <a:prstGeom prst="rect">
            <a:avLst/>
          </a:prstGeom>
          <a:noFill/>
        </p:spPr>
        <p:txBody>
          <a:bodyPr wrap="square">
            <a:spAutoFit/>
          </a:bodyPr>
          <a:lstStyle/>
          <a:p>
            <a:pPr algn="l"/>
            <a:r>
              <a:rPr sz="880" b="0" i="0">
                <a:solidFill>
                  <a:srgbClr val="F7F7F7"/>
                </a:solidFill>
                <a:latin typeface="Calibri"/>
              </a:rPr>
              <a:t>Quantum outputs must integrate with
existing risk engines, trading systems,
and data infrastructure. Hybrid
architectures add latency overhead.</a:t>
            </a:r>
          </a:p>
        </p:txBody>
      </p:sp>
      <p:sp>
        <p:nvSpPr>
          <p:cNvPr id="27" name="Rectangle 26"/>
          <p:cNvSpPr/>
          <p:nvPr/>
        </p:nvSpPr>
        <p:spPr>
          <a:xfrm>
            <a:off x="201168" y="5852160"/>
            <a:ext cx="5669280" cy="65836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 y="5861304"/>
            <a:ext cx="1051560" cy="201168"/>
          </a:xfrm>
          <a:prstGeom prst="rect">
            <a:avLst/>
          </a:prstGeom>
          <a:noFill/>
        </p:spPr>
        <p:txBody>
          <a:bodyPr wrap="square">
            <a:spAutoFit/>
          </a:bodyPr>
          <a:lstStyle/>
          <a:p>
            <a:pPr algn="ctr"/>
            <a:r>
              <a:rPr sz="700" b="0" i="0">
                <a:solidFill>
                  <a:srgbClr val="DDDDDD"/>
                </a:solidFill>
                <a:latin typeface="Calibri"/>
              </a:rPr>
              <a:t>Hardware</a:t>
            </a:r>
          </a:p>
        </p:txBody>
      </p:sp>
      <p:sp>
        <p:nvSpPr>
          <p:cNvPr id="29" name="Rectangle 28"/>
          <p:cNvSpPr/>
          <p:nvPr/>
        </p:nvSpPr>
        <p:spPr>
          <a:xfrm>
            <a:off x="365760" y="6071616"/>
            <a:ext cx="868680"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6071616"/>
            <a:ext cx="243230"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2608" y="6281928"/>
            <a:ext cx="1051560" cy="182880"/>
          </a:xfrm>
          <a:prstGeom prst="rect">
            <a:avLst/>
          </a:prstGeom>
          <a:noFill/>
        </p:spPr>
        <p:txBody>
          <a:bodyPr wrap="square">
            <a:spAutoFit/>
          </a:bodyPr>
          <a:lstStyle/>
          <a:p>
            <a:pPr algn="ctr"/>
            <a:r>
              <a:rPr sz="700" b="1" i="0">
                <a:solidFill>
                  <a:srgbClr val="CC0000"/>
                </a:solidFill>
                <a:latin typeface="Calibri"/>
              </a:rPr>
              <a:t>28%</a:t>
            </a:r>
          </a:p>
        </p:txBody>
      </p:sp>
      <p:sp>
        <p:nvSpPr>
          <p:cNvPr id="32" name="TextBox 31"/>
          <p:cNvSpPr txBox="1"/>
          <p:nvPr/>
        </p:nvSpPr>
        <p:spPr>
          <a:xfrm>
            <a:off x="1389888" y="5861304"/>
            <a:ext cx="1051560" cy="201168"/>
          </a:xfrm>
          <a:prstGeom prst="rect">
            <a:avLst/>
          </a:prstGeom>
          <a:noFill/>
        </p:spPr>
        <p:txBody>
          <a:bodyPr wrap="square">
            <a:spAutoFit/>
          </a:bodyPr>
          <a:lstStyle/>
          <a:p>
            <a:pPr algn="ctr"/>
            <a:r>
              <a:rPr sz="700" b="0" i="0">
                <a:solidFill>
                  <a:srgbClr val="DDDDDD"/>
                </a:solidFill>
                <a:latin typeface="Calibri"/>
              </a:rPr>
              <a:t>Algorithms</a:t>
            </a:r>
          </a:p>
        </p:txBody>
      </p:sp>
      <p:sp>
        <p:nvSpPr>
          <p:cNvPr id="33" name="Rectangle 32"/>
          <p:cNvSpPr/>
          <p:nvPr/>
        </p:nvSpPr>
        <p:spPr>
          <a:xfrm>
            <a:off x="1463040" y="6071616"/>
            <a:ext cx="868680"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463040" y="6071616"/>
            <a:ext cx="538581"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89888" y="6281928"/>
            <a:ext cx="1051560" cy="182880"/>
          </a:xfrm>
          <a:prstGeom prst="rect">
            <a:avLst/>
          </a:prstGeom>
          <a:noFill/>
        </p:spPr>
        <p:txBody>
          <a:bodyPr wrap="square">
            <a:spAutoFit/>
          </a:bodyPr>
          <a:lstStyle/>
          <a:p>
            <a:pPr algn="ctr"/>
            <a:r>
              <a:rPr sz="700" b="1" i="0">
                <a:solidFill>
                  <a:srgbClr val="CC0000"/>
                </a:solidFill>
                <a:latin typeface="Calibri"/>
              </a:rPr>
              <a:t>62%</a:t>
            </a:r>
          </a:p>
        </p:txBody>
      </p:sp>
      <p:sp>
        <p:nvSpPr>
          <p:cNvPr id="36" name="TextBox 35"/>
          <p:cNvSpPr txBox="1"/>
          <p:nvPr/>
        </p:nvSpPr>
        <p:spPr>
          <a:xfrm>
            <a:off x="2487168" y="5861304"/>
            <a:ext cx="1051560" cy="201168"/>
          </a:xfrm>
          <a:prstGeom prst="rect">
            <a:avLst/>
          </a:prstGeom>
          <a:noFill/>
        </p:spPr>
        <p:txBody>
          <a:bodyPr wrap="square">
            <a:spAutoFit/>
          </a:bodyPr>
          <a:lstStyle/>
          <a:p>
            <a:pPr algn="ctr"/>
            <a:r>
              <a:rPr sz="700" b="0" i="0">
                <a:solidFill>
                  <a:srgbClr val="DDDDDD"/>
                </a:solidFill>
                <a:latin typeface="Calibri"/>
              </a:rPr>
              <a:t>Talent</a:t>
            </a:r>
          </a:p>
        </p:txBody>
      </p:sp>
      <p:sp>
        <p:nvSpPr>
          <p:cNvPr id="37" name="Rectangle 36"/>
          <p:cNvSpPr/>
          <p:nvPr/>
        </p:nvSpPr>
        <p:spPr>
          <a:xfrm>
            <a:off x="2560320" y="6071616"/>
            <a:ext cx="868680"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560320" y="6071616"/>
            <a:ext cx="30403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87168" y="6281928"/>
            <a:ext cx="1051560" cy="182880"/>
          </a:xfrm>
          <a:prstGeom prst="rect">
            <a:avLst/>
          </a:prstGeom>
          <a:noFill/>
        </p:spPr>
        <p:txBody>
          <a:bodyPr wrap="square">
            <a:spAutoFit/>
          </a:bodyPr>
          <a:lstStyle/>
          <a:p>
            <a:pPr algn="ctr"/>
            <a:r>
              <a:rPr sz="700" b="1" i="0">
                <a:solidFill>
                  <a:srgbClr val="CC0000"/>
                </a:solidFill>
                <a:latin typeface="Calibri"/>
              </a:rPr>
              <a:t>35%</a:t>
            </a:r>
          </a:p>
        </p:txBody>
      </p:sp>
      <p:sp>
        <p:nvSpPr>
          <p:cNvPr id="40" name="TextBox 39"/>
          <p:cNvSpPr txBox="1"/>
          <p:nvPr/>
        </p:nvSpPr>
        <p:spPr>
          <a:xfrm>
            <a:off x="3584447" y="5861304"/>
            <a:ext cx="1051560" cy="201168"/>
          </a:xfrm>
          <a:prstGeom prst="rect">
            <a:avLst/>
          </a:prstGeom>
          <a:noFill/>
        </p:spPr>
        <p:txBody>
          <a:bodyPr wrap="square">
            <a:spAutoFit/>
          </a:bodyPr>
          <a:lstStyle/>
          <a:p>
            <a:pPr algn="ctr"/>
            <a:r>
              <a:rPr sz="700" b="0" i="0">
                <a:solidFill>
                  <a:srgbClr val="DDDDDD"/>
                </a:solidFill>
                <a:latin typeface="Calibri"/>
              </a:rPr>
              <a:t>Regulation</a:t>
            </a:r>
          </a:p>
        </p:txBody>
      </p:sp>
      <p:sp>
        <p:nvSpPr>
          <p:cNvPr id="41" name="Rectangle 40"/>
          <p:cNvSpPr/>
          <p:nvPr/>
        </p:nvSpPr>
        <p:spPr>
          <a:xfrm>
            <a:off x="3657599" y="6071616"/>
            <a:ext cx="868680"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57599" y="6071616"/>
            <a:ext cx="390906"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84447" y="6281928"/>
            <a:ext cx="1051560" cy="182880"/>
          </a:xfrm>
          <a:prstGeom prst="rect">
            <a:avLst/>
          </a:prstGeom>
          <a:noFill/>
        </p:spPr>
        <p:txBody>
          <a:bodyPr wrap="square">
            <a:spAutoFit/>
          </a:bodyPr>
          <a:lstStyle/>
          <a:p>
            <a:pPr algn="ctr"/>
            <a:r>
              <a:rPr sz="700" b="1" i="0">
                <a:solidFill>
                  <a:srgbClr val="CC0000"/>
                </a:solidFill>
                <a:latin typeface="Calibri"/>
              </a:rPr>
              <a:t>45%</a:t>
            </a:r>
          </a:p>
        </p:txBody>
      </p:sp>
      <p:sp>
        <p:nvSpPr>
          <p:cNvPr id="44" name="TextBox 43"/>
          <p:cNvSpPr txBox="1"/>
          <p:nvPr/>
        </p:nvSpPr>
        <p:spPr>
          <a:xfrm>
            <a:off x="4681728" y="5861304"/>
            <a:ext cx="1051560" cy="201168"/>
          </a:xfrm>
          <a:prstGeom prst="rect">
            <a:avLst/>
          </a:prstGeom>
          <a:noFill/>
        </p:spPr>
        <p:txBody>
          <a:bodyPr wrap="square">
            <a:spAutoFit/>
          </a:bodyPr>
          <a:lstStyle/>
          <a:p>
            <a:pPr algn="ctr"/>
            <a:r>
              <a:rPr sz="700" b="0" i="0">
                <a:solidFill>
                  <a:srgbClr val="DDDDDD"/>
                </a:solidFill>
                <a:latin typeface="Calibri"/>
              </a:rPr>
              <a:t>Integration</a:t>
            </a:r>
          </a:p>
        </p:txBody>
      </p:sp>
      <p:sp>
        <p:nvSpPr>
          <p:cNvPr id="45" name="Rectangle 44"/>
          <p:cNvSpPr/>
          <p:nvPr/>
        </p:nvSpPr>
        <p:spPr>
          <a:xfrm>
            <a:off x="4754880" y="6071616"/>
            <a:ext cx="868680" cy="201168"/>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54880" y="6071616"/>
            <a:ext cx="347472"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81728" y="6281928"/>
            <a:ext cx="1051560" cy="182880"/>
          </a:xfrm>
          <a:prstGeom prst="rect">
            <a:avLst/>
          </a:prstGeom>
          <a:noFill/>
        </p:spPr>
        <p:txBody>
          <a:bodyPr wrap="square">
            <a:spAutoFit/>
          </a:bodyPr>
          <a:lstStyle/>
          <a:p>
            <a:pPr algn="ctr"/>
            <a:r>
              <a:rPr sz="700" b="1" i="0">
                <a:solidFill>
                  <a:srgbClr val="CC0000"/>
                </a:solidFill>
                <a:latin typeface="Calibri"/>
              </a:rPr>
              <a:t>40%</a:t>
            </a:r>
          </a:p>
        </p:txBody>
      </p:sp>
      <p:sp>
        <p:nvSpPr>
          <p:cNvPr id="48" name="TextBox 47"/>
          <p:cNvSpPr txBox="1"/>
          <p:nvPr/>
        </p:nvSpPr>
        <p:spPr>
          <a:xfrm>
            <a:off x="256032" y="5861304"/>
            <a:ext cx="5486400" cy="182880"/>
          </a:xfrm>
          <a:prstGeom prst="rect">
            <a:avLst/>
          </a:prstGeom>
          <a:noFill/>
        </p:spPr>
        <p:txBody>
          <a:bodyPr wrap="square">
            <a:spAutoFit/>
          </a:bodyPr>
          <a:lstStyle/>
          <a:p>
            <a:pPr algn="ctr"/>
            <a:r>
              <a:rPr sz="750" b="1" i="0">
                <a:solidFill>
                  <a:srgbClr val="FFFFFF"/>
                </a:solidFill>
                <a:latin typeface="Calibri"/>
              </a:rPr>
              <a:t>BFSI Quantum Readiness Scores (2026 assessment)</a:t>
            </a:r>
          </a:p>
        </p:txBody>
      </p:sp>
      <p:pic>
        <p:nvPicPr>
          <p:cNvPr id="49" name="Picture 48" descr="image.png"/>
          <p:cNvPicPr>
            <a:picLocks noChangeAspect="1"/>
          </p:cNvPicPr>
          <p:nvPr/>
        </p:nvPicPr>
        <p:blipFill>
          <a:blip r:embed="rId2"/>
          <a:stretch>
            <a:fillRect/>
          </a:stretch>
        </p:blipFill>
        <p:spPr>
          <a:xfrm>
            <a:off x="5989320" y="1170432"/>
            <a:ext cx="5989320" cy="161731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88952" cy="5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620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91440"/>
            <a:ext cx="11430000" cy="621792"/>
          </a:xfrm>
          <a:prstGeom prst="rect">
            <a:avLst/>
          </a:prstGeom>
          <a:noFill/>
        </p:spPr>
        <p:txBody>
          <a:bodyPr wrap="square">
            <a:spAutoFit/>
          </a:bodyPr>
          <a:lstStyle/>
          <a:p>
            <a:pPr algn="l"/>
            <a:r>
              <a:rPr sz="2600" b="1" i="0">
                <a:solidFill>
                  <a:srgbClr val="1A1A1A"/>
                </a:solidFill>
                <a:latin typeface="Calibri"/>
              </a:rPr>
              <a:t>Key Takeaways &amp; Future Outlook</a:t>
            </a:r>
          </a:p>
        </p:txBody>
      </p:sp>
      <p:sp>
        <p:nvSpPr>
          <p:cNvPr id="6" name="TextBox 5"/>
          <p:cNvSpPr txBox="1"/>
          <p:nvPr/>
        </p:nvSpPr>
        <p:spPr>
          <a:xfrm>
            <a:off x="320040" y="676656"/>
            <a:ext cx="11430000" cy="347472"/>
          </a:xfrm>
          <a:prstGeom prst="rect">
            <a:avLst/>
          </a:prstGeom>
          <a:noFill/>
        </p:spPr>
        <p:txBody>
          <a:bodyPr wrap="square">
            <a:spAutoFit/>
          </a:bodyPr>
          <a:lstStyle/>
          <a:p>
            <a:pPr algn="l"/>
            <a:r>
              <a:rPr sz="1200" b="0" i="0">
                <a:solidFill>
                  <a:srgbClr val="CC0000"/>
                </a:solidFill>
                <a:latin typeface="Calibri"/>
              </a:rPr>
              <a:t>The Quantum Finance Revolution Is Underway — The Question Is When, Not If</a:t>
            </a:r>
          </a:p>
        </p:txBody>
      </p:sp>
      <p:sp>
        <p:nvSpPr>
          <p:cNvPr id="7" name="Rectangle 6"/>
          <p:cNvSpPr/>
          <p:nvPr/>
        </p:nvSpPr>
        <p:spPr>
          <a:xfrm>
            <a:off x="0" y="1088136"/>
            <a:ext cx="12188952" cy="5769864"/>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583680"/>
            <a:ext cx="12188952" cy="27432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6583680"/>
            <a:ext cx="7315200" cy="256032"/>
          </a:xfrm>
          <a:prstGeom prst="rect">
            <a:avLst/>
          </a:prstGeom>
          <a:noFill/>
        </p:spPr>
        <p:txBody>
          <a:bodyPr wrap="square">
            <a:spAutoFit/>
          </a:bodyPr>
          <a:lstStyle/>
          <a:p>
            <a:pPr algn="l"/>
            <a:r>
              <a:rPr sz="700" b="0" i="0">
                <a:solidFill>
                  <a:srgbClr val="DDDDDD"/>
                </a:solidFill>
                <a:latin typeface="Calibri"/>
              </a:rPr>
              <a:t>CONFIDENTIAL  |  Quantum BFSI</a:t>
            </a:r>
          </a:p>
        </p:txBody>
      </p:sp>
      <p:sp>
        <p:nvSpPr>
          <p:cNvPr id="10" name="TextBox 9"/>
          <p:cNvSpPr txBox="1"/>
          <p:nvPr/>
        </p:nvSpPr>
        <p:spPr>
          <a:xfrm>
            <a:off x="8229600" y="6583680"/>
            <a:ext cx="3840480" cy="256032"/>
          </a:xfrm>
          <a:prstGeom prst="rect">
            <a:avLst/>
          </a:prstGeom>
          <a:noFill/>
        </p:spPr>
        <p:txBody>
          <a:bodyPr wrap="square">
            <a:spAutoFit/>
          </a:bodyPr>
          <a:lstStyle/>
          <a:p>
            <a:pPr algn="r"/>
            <a:r>
              <a:rPr sz="700" b="0" i="0">
                <a:solidFill>
                  <a:srgbClr val="DDDDDD"/>
                </a:solidFill>
                <a:latin typeface="Calibri"/>
              </a:rPr>
              <a:t>© 2026 Quantum Finance Advisory</a:t>
            </a:r>
          </a:p>
        </p:txBody>
      </p:sp>
      <p:sp>
        <p:nvSpPr>
          <p:cNvPr id="11" name="Rectangle 10"/>
          <p:cNvSpPr/>
          <p:nvPr/>
        </p:nvSpPr>
        <p:spPr>
          <a:xfrm>
            <a:off x="228600" y="1234440"/>
            <a:ext cx="3794760" cy="2286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28600" y="1234440"/>
            <a:ext cx="57150" cy="2286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 y="1325880"/>
            <a:ext cx="457200" cy="411480"/>
          </a:xfrm>
          <a:prstGeom prst="rect">
            <a:avLst/>
          </a:prstGeom>
          <a:noFill/>
        </p:spPr>
        <p:txBody>
          <a:bodyPr wrap="square">
            <a:spAutoFit/>
          </a:bodyPr>
          <a:lstStyle/>
          <a:p>
            <a:pPr algn="l"/>
            <a:r>
              <a:rPr sz="2000" b="1" i="0">
                <a:solidFill>
                  <a:srgbClr val="CC0000"/>
                </a:solidFill>
                <a:latin typeface="Calibri"/>
              </a:rPr>
              <a:t>01</a:t>
            </a:r>
          </a:p>
        </p:txBody>
      </p:sp>
      <p:sp>
        <p:nvSpPr>
          <p:cNvPr id="14" name="TextBox 13"/>
          <p:cNvSpPr txBox="1"/>
          <p:nvPr/>
        </p:nvSpPr>
        <p:spPr>
          <a:xfrm>
            <a:off x="338328" y="1737360"/>
            <a:ext cx="3566160" cy="411480"/>
          </a:xfrm>
          <a:prstGeom prst="rect">
            <a:avLst/>
          </a:prstGeom>
          <a:noFill/>
        </p:spPr>
        <p:txBody>
          <a:bodyPr wrap="square">
            <a:spAutoFit/>
          </a:bodyPr>
          <a:lstStyle/>
          <a:p>
            <a:pPr algn="l"/>
            <a:r>
              <a:rPr sz="1150" b="1" i="0">
                <a:solidFill>
                  <a:srgbClr val="FFFFFF"/>
                </a:solidFill>
                <a:latin typeface="Calibri"/>
              </a:rPr>
              <a:t>Critical Problem Fit</a:t>
            </a:r>
          </a:p>
        </p:txBody>
      </p:sp>
      <p:sp>
        <p:nvSpPr>
          <p:cNvPr id="15" name="TextBox 14"/>
          <p:cNvSpPr txBox="1"/>
          <p:nvPr/>
        </p:nvSpPr>
        <p:spPr>
          <a:xfrm>
            <a:off x="338328" y="2194560"/>
            <a:ext cx="3566160" cy="1234440"/>
          </a:xfrm>
          <a:prstGeom prst="rect">
            <a:avLst/>
          </a:prstGeom>
          <a:noFill/>
        </p:spPr>
        <p:txBody>
          <a:bodyPr wrap="square">
            <a:spAutoFit/>
          </a:bodyPr>
          <a:lstStyle/>
          <a:p>
            <a:pPr algn="l"/>
            <a:r>
              <a:rPr sz="900" b="0" i="0">
                <a:solidFill>
                  <a:srgbClr val="DDDDDD"/>
                </a:solidFill>
                <a:latin typeface="Calibri"/>
              </a:rPr>
              <a:t>Quantum computing directly addresses NP-hard portfolio optimization and quadratic speedup for Monte Carlo — the two most computationally expensive areas in BFSI.</a:t>
            </a:r>
          </a:p>
        </p:txBody>
      </p:sp>
      <p:sp>
        <p:nvSpPr>
          <p:cNvPr id="16" name="Rectangle 15"/>
          <p:cNvSpPr/>
          <p:nvPr/>
        </p:nvSpPr>
        <p:spPr>
          <a:xfrm>
            <a:off x="4224528" y="1234440"/>
            <a:ext cx="3794760" cy="2286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24528" y="1234440"/>
            <a:ext cx="57150" cy="2286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34256" y="1325880"/>
            <a:ext cx="457200" cy="411480"/>
          </a:xfrm>
          <a:prstGeom prst="rect">
            <a:avLst/>
          </a:prstGeom>
          <a:noFill/>
        </p:spPr>
        <p:txBody>
          <a:bodyPr wrap="square">
            <a:spAutoFit/>
          </a:bodyPr>
          <a:lstStyle/>
          <a:p>
            <a:pPr algn="l"/>
            <a:r>
              <a:rPr sz="2000" b="1" i="0">
                <a:solidFill>
                  <a:srgbClr val="CC0000"/>
                </a:solidFill>
                <a:latin typeface="Calibri"/>
              </a:rPr>
              <a:t>02</a:t>
            </a:r>
          </a:p>
        </p:txBody>
      </p:sp>
      <p:sp>
        <p:nvSpPr>
          <p:cNvPr id="19" name="TextBox 18"/>
          <p:cNvSpPr txBox="1"/>
          <p:nvPr/>
        </p:nvSpPr>
        <p:spPr>
          <a:xfrm>
            <a:off x="4334256" y="1737360"/>
            <a:ext cx="3566160" cy="411480"/>
          </a:xfrm>
          <a:prstGeom prst="rect">
            <a:avLst/>
          </a:prstGeom>
          <a:noFill/>
        </p:spPr>
        <p:txBody>
          <a:bodyPr wrap="square">
            <a:spAutoFit/>
          </a:bodyPr>
          <a:lstStyle/>
          <a:p>
            <a:pPr algn="l"/>
            <a:r>
              <a:rPr sz="1150" b="1" i="0">
                <a:solidFill>
                  <a:srgbClr val="FFFFFF"/>
                </a:solidFill>
                <a:latin typeface="Calibri"/>
              </a:rPr>
              <a:t>Portfolio as Killer App</a:t>
            </a:r>
          </a:p>
        </p:txBody>
      </p:sp>
      <p:sp>
        <p:nvSpPr>
          <p:cNvPr id="20" name="TextBox 19"/>
          <p:cNvSpPr txBox="1"/>
          <p:nvPr/>
        </p:nvSpPr>
        <p:spPr>
          <a:xfrm>
            <a:off x="4334256" y="2194560"/>
            <a:ext cx="3566160" cy="1234440"/>
          </a:xfrm>
          <a:prstGeom prst="rect">
            <a:avLst/>
          </a:prstGeom>
          <a:noFill/>
        </p:spPr>
        <p:txBody>
          <a:bodyPr wrap="square">
            <a:spAutoFit/>
          </a:bodyPr>
          <a:lstStyle/>
          <a:p>
            <a:pPr algn="l"/>
            <a:r>
              <a:rPr sz="900" b="0" i="0">
                <a:solidFill>
                  <a:srgbClr val="DDDDDD"/>
                </a:solidFill>
                <a:latin typeface="Calibri"/>
              </a:rPr>
              <a:t>Portfolio optimization with thousands of correlated assets under realistic constraints is the single most promising near-term financial quantum application.</a:t>
            </a:r>
          </a:p>
        </p:txBody>
      </p:sp>
      <p:sp>
        <p:nvSpPr>
          <p:cNvPr id="21" name="Rectangle 20"/>
          <p:cNvSpPr/>
          <p:nvPr/>
        </p:nvSpPr>
        <p:spPr>
          <a:xfrm>
            <a:off x="8220456" y="1234440"/>
            <a:ext cx="3794760" cy="2286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0456" y="1234440"/>
            <a:ext cx="5715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4" y="1325880"/>
            <a:ext cx="457200" cy="411480"/>
          </a:xfrm>
          <a:prstGeom prst="rect">
            <a:avLst/>
          </a:prstGeom>
          <a:noFill/>
        </p:spPr>
        <p:txBody>
          <a:bodyPr wrap="square">
            <a:spAutoFit/>
          </a:bodyPr>
          <a:lstStyle/>
          <a:p>
            <a:pPr algn="l"/>
            <a:r>
              <a:rPr sz="2000" b="1" i="0">
                <a:solidFill>
                  <a:srgbClr val="FFFFFF"/>
                </a:solidFill>
                <a:latin typeface="Calibri"/>
              </a:rPr>
              <a:t>03</a:t>
            </a:r>
          </a:p>
        </p:txBody>
      </p:sp>
      <p:sp>
        <p:nvSpPr>
          <p:cNvPr id="24" name="TextBox 23"/>
          <p:cNvSpPr txBox="1"/>
          <p:nvPr/>
        </p:nvSpPr>
        <p:spPr>
          <a:xfrm>
            <a:off x="8330184" y="1737360"/>
            <a:ext cx="3566160" cy="411480"/>
          </a:xfrm>
          <a:prstGeom prst="rect">
            <a:avLst/>
          </a:prstGeom>
          <a:noFill/>
        </p:spPr>
        <p:txBody>
          <a:bodyPr wrap="square">
            <a:spAutoFit/>
          </a:bodyPr>
          <a:lstStyle/>
          <a:p>
            <a:pPr algn="l"/>
            <a:r>
              <a:rPr sz="1150" b="1" i="0">
                <a:solidFill>
                  <a:srgbClr val="FFFFFF"/>
                </a:solidFill>
                <a:latin typeface="Calibri"/>
              </a:rPr>
              <a:t>QAE Changes Risk Management</a:t>
            </a:r>
          </a:p>
        </p:txBody>
      </p:sp>
      <p:sp>
        <p:nvSpPr>
          <p:cNvPr id="25" name="TextBox 24"/>
          <p:cNvSpPr txBox="1"/>
          <p:nvPr/>
        </p:nvSpPr>
        <p:spPr>
          <a:xfrm>
            <a:off x="8330184" y="2194560"/>
            <a:ext cx="3566160" cy="1234440"/>
          </a:xfrm>
          <a:prstGeom prst="rect">
            <a:avLst/>
          </a:prstGeom>
          <a:noFill/>
        </p:spPr>
        <p:txBody>
          <a:bodyPr wrap="square">
            <a:spAutoFit/>
          </a:bodyPr>
          <a:lstStyle/>
          <a:p>
            <a:pPr algn="l"/>
            <a:r>
              <a:rPr sz="900" b="0" i="0">
                <a:solidFill>
                  <a:srgbClr val="DDDDDD"/>
                </a:solidFill>
                <a:latin typeface="Calibri"/>
              </a:rPr>
              <a:t>Quantum Amplitude Estimation can reduce simulation requirements by 10,000× — transforming overnight batch risk runs into real-time, intraday risk analytics.</a:t>
            </a:r>
          </a:p>
        </p:txBody>
      </p:sp>
      <p:sp>
        <p:nvSpPr>
          <p:cNvPr id="26" name="Rectangle 25"/>
          <p:cNvSpPr/>
          <p:nvPr/>
        </p:nvSpPr>
        <p:spPr>
          <a:xfrm>
            <a:off x="2226564" y="3721608"/>
            <a:ext cx="3794760" cy="2286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226564" y="3721608"/>
            <a:ext cx="57150" cy="2286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336292" y="3813048"/>
            <a:ext cx="457200" cy="411480"/>
          </a:xfrm>
          <a:prstGeom prst="rect">
            <a:avLst/>
          </a:prstGeom>
          <a:noFill/>
        </p:spPr>
        <p:txBody>
          <a:bodyPr wrap="square">
            <a:spAutoFit/>
          </a:bodyPr>
          <a:lstStyle/>
          <a:p>
            <a:pPr algn="l"/>
            <a:r>
              <a:rPr sz="2000" b="1" i="0">
                <a:solidFill>
                  <a:srgbClr val="CC0000"/>
                </a:solidFill>
                <a:latin typeface="Calibri"/>
              </a:rPr>
              <a:t>04</a:t>
            </a:r>
          </a:p>
        </p:txBody>
      </p:sp>
      <p:sp>
        <p:nvSpPr>
          <p:cNvPr id="29" name="TextBox 28"/>
          <p:cNvSpPr txBox="1"/>
          <p:nvPr/>
        </p:nvSpPr>
        <p:spPr>
          <a:xfrm>
            <a:off x="2336292" y="4224528"/>
            <a:ext cx="3566160" cy="411480"/>
          </a:xfrm>
          <a:prstGeom prst="rect">
            <a:avLst/>
          </a:prstGeom>
          <a:noFill/>
        </p:spPr>
        <p:txBody>
          <a:bodyPr wrap="square">
            <a:spAutoFit/>
          </a:bodyPr>
          <a:lstStyle/>
          <a:p>
            <a:pPr algn="l"/>
            <a:r>
              <a:rPr sz="1150" b="1" i="0">
                <a:solidFill>
                  <a:srgbClr val="FFFFFF"/>
                </a:solidFill>
                <a:latin typeface="Calibri"/>
              </a:rPr>
              <a:t>Pilots Are Real</a:t>
            </a:r>
          </a:p>
        </p:txBody>
      </p:sp>
      <p:sp>
        <p:nvSpPr>
          <p:cNvPr id="30" name="TextBox 29"/>
          <p:cNvSpPr txBox="1"/>
          <p:nvPr/>
        </p:nvSpPr>
        <p:spPr>
          <a:xfrm>
            <a:off x="2336292" y="4681728"/>
            <a:ext cx="3566160" cy="1234440"/>
          </a:xfrm>
          <a:prstGeom prst="rect">
            <a:avLst/>
          </a:prstGeom>
          <a:noFill/>
        </p:spPr>
        <p:txBody>
          <a:bodyPr wrap="square">
            <a:spAutoFit/>
          </a:bodyPr>
          <a:lstStyle/>
          <a:p>
            <a:pPr algn="l"/>
            <a:r>
              <a:rPr sz="900" b="0" i="0">
                <a:solidFill>
                  <a:srgbClr val="DDDDDD"/>
                </a:solidFill>
                <a:latin typeface="Calibri"/>
              </a:rPr>
              <a:t>JPMorgan, Goldman Sachs, HSBC, and Barclays are all conducting live quantum experiments. The institutional commitment signals commercial intent, not academic curiosity.</a:t>
            </a:r>
          </a:p>
        </p:txBody>
      </p:sp>
      <p:sp>
        <p:nvSpPr>
          <p:cNvPr id="31" name="Rectangle 30"/>
          <p:cNvSpPr/>
          <p:nvPr/>
        </p:nvSpPr>
        <p:spPr>
          <a:xfrm>
            <a:off x="6222492" y="3721608"/>
            <a:ext cx="3794760" cy="22860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22492" y="3721608"/>
            <a:ext cx="57150" cy="2286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32220" y="3813048"/>
            <a:ext cx="457200" cy="411480"/>
          </a:xfrm>
          <a:prstGeom prst="rect">
            <a:avLst/>
          </a:prstGeom>
          <a:noFill/>
        </p:spPr>
        <p:txBody>
          <a:bodyPr wrap="square">
            <a:spAutoFit/>
          </a:bodyPr>
          <a:lstStyle/>
          <a:p>
            <a:pPr algn="l"/>
            <a:r>
              <a:rPr sz="2000" b="1" i="0">
                <a:solidFill>
                  <a:srgbClr val="CC0000"/>
                </a:solidFill>
                <a:latin typeface="Calibri"/>
              </a:rPr>
              <a:t>05</a:t>
            </a:r>
          </a:p>
        </p:txBody>
      </p:sp>
      <p:sp>
        <p:nvSpPr>
          <p:cNvPr id="34" name="TextBox 33"/>
          <p:cNvSpPr txBox="1"/>
          <p:nvPr/>
        </p:nvSpPr>
        <p:spPr>
          <a:xfrm>
            <a:off x="6332220" y="4224528"/>
            <a:ext cx="3566160" cy="411480"/>
          </a:xfrm>
          <a:prstGeom prst="rect">
            <a:avLst/>
          </a:prstGeom>
          <a:noFill/>
        </p:spPr>
        <p:txBody>
          <a:bodyPr wrap="square">
            <a:spAutoFit/>
          </a:bodyPr>
          <a:lstStyle/>
          <a:p>
            <a:pPr algn="l"/>
            <a:r>
              <a:rPr sz="1150" b="1" i="0">
                <a:solidFill>
                  <a:srgbClr val="FFFFFF"/>
                </a:solidFill>
                <a:latin typeface="Calibri"/>
              </a:rPr>
              <a:t>Hybrid Is the Bridge</a:t>
            </a:r>
          </a:p>
        </p:txBody>
      </p:sp>
      <p:sp>
        <p:nvSpPr>
          <p:cNvPr id="35" name="TextBox 34"/>
          <p:cNvSpPr txBox="1"/>
          <p:nvPr/>
        </p:nvSpPr>
        <p:spPr>
          <a:xfrm>
            <a:off x="6332220" y="4681728"/>
            <a:ext cx="3566160" cy="1234440"/>
          </a:xfrm>
          <a:prstGeom prst="rect">
            <a:avLst/>
          </a:prstGeom>
          <a:noFill/>
        </p:spPr>
        <p:txBody>
          <a:bodyPr wrap="square">
            <a:spAutoFit/>
          </a:bodyPr>
          <a:lstStyle/>
          <a:p>
            <a:pPr algn="l"/>
            <a:r>
              <a:rPr sz="900" b="0" i="0">
                <a:solidFill>
                  <a:srgbClr val="DDDDDD"/>
                </a:solidFill>
                <a:latin typeface="Calibri"/>
              </a:rPr>
              <a:t>The near-term path is hybrid quantum-classical systems — quantum for exploration and acceleration, classical for precision and integration. Available on AWS, IBM, and Azure today.</a:t>
            </a:r>
          </a:p>
        </p:txBody>
      </p:sp>
      <p:sp>
        <p:nvSpPr>
          <p:cNvPr id="36" name="Rectangle 35"/>
          <p:cNvSpPr/>
          <p:nvPr/>
        </p:nvSpPr>
        <p:spPr>
          <a:xfrm>
            <a:off x="201168" y="5897880"/>
            <a:ext cx="11795760" cy="6400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5943600"/>
            <a:ext cx="11475720" cy="566928"/>
          </a:xfrm>
          <a:prstGeom prst="rect">
            <a:avLst/>
          </a:prstGeom>
          <a:noFill/>
        </p:spPr>
        <p:txBody>
          <a:bodyPr wrap="square">
            <a:spAutoFit/>
          </a:bodyPr>
          <a:lstStyle/>
          <a:p>
            <a:pPr algn="ctr"/>
            <a:r>
              <a:rPr sz="1150" b="1" i="1">
                <a:solidFill>
                  <a:srgbClr val="FFFFFF"/>
                </a:solidFill>
                <a:latin typeface="Calibri"/>
              </a:rPr>
              <a:t>"Financial institutions that invest early in quantum readiness may gain significant competitive advantages in portfolio management, pricing, and risk optimization."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0" cy="6858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154680" y="0"/>
            <a:ext cx="63500"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943600" y="228600"/>
            <a:ext cx="6400800" cy="6400800"/>
          </a:xfrm>
          <a:prstGeom prst="ellipse">
            <a:avLst/>
          </a:prstGeom>
          <a:no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949440" y="1234440"/>
            <a:ext cx="4389120" cy="4389120"/>
          </a:xfrm>
          <a:prstGeom prst="ellipse">
            <a:avLst/>
          </a:prstGeom>
          <a:no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79" y="2240280"/>
            <a:ext cx="2377440" cy="2377440"/>
          </a:xfrm>
          <a:prstGeom prst="ellipse">
            <a:avLst/>
          </a:prstGeom>
          <a:noFill/>
          <a:ln w="1016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280160"/>
            <a:ext cx="8229600" cy="1005840"/>
          </a:xfrm>
          <a:prstGeom prst="rect">
            <a:avLst/>
          </a:prstGeom>
          <a:noFill/>
        </p:spPr>
        <p:txBody>
          <a:bodyPr wrap="square">
            <a:spAutoFit/>
          </a:bodyPr>
          <a:lstStyle/>
          <a:p>
            <a:pPr algn="ctr"/>
            <a:r>
              <a:rPr sz="4400" b="1" i="0">
                <a:solidFill>
                  <a:srgbClr val="1A1A1A"/>
                </a:solidFill>
                <a:latin typeface="Calibri"/>
              </a:rPr>
              <a:t>Thank You</a:t>
            </a:r>
          </a:p>
        </p:txBody>
      </p:sp>
      <p:sp>
        <p:nvSpPr>
          <p:cNvPr id="9" name="Rectangle 8"/>
          <p:cNvSpPr/>
          <p:nvPr/>
        </p:nvSpPr>
        <p:spPr>
          <a:xfrm>
            <a:off x="4572000" y="2395728"/>
            <a:ext cx="3017520" cy="4445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2523744"/>
            <a:ext cx="8229600" cy="457200"/>
          </a:xfrm>
          <a:prstGeom prst="rect">
            <a:avLst/>
          </a:prstGeom>
          <a:noFill/>
        </p:spPr>
        <p:txBody>
          <a:bodyPr wrap="square">
            <a:spAutoFit/>
          </a:bodyPr>
          <a:lstStyle/>
          <a:p>
            <a:pPr algn="ctr"/>
            <a:r>
              <a:rPr sz="1800" b="0" i="0">
                <a:solidFill>
                  <a:srgbClr val="CC0000"/>
                </a:solidFill>
                <a:latin typeface="Calibri"/>
              </a:rPr>
              <a:t>Questions &amp; Discussion</a:t>
            </a:r>
          </a:p>
        </p:txBody>
      </p:sp>
      <p:sp>
        <p:nvSpPr>
          <p:cNvPr id="11" name="Rectangle 10"/>
          <p:cNvSpPr/>
          <p:nvPr/>
        </p:nvSpPr>
        <p:spPr>
          <a:xfrm>
            <a:off x="3474720" y="3108960"/>
            <a:ext cx="8412480" cy="292608"/>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3108960"/>
            <a:ext cx="63500" cy="2926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3108960"/>
            <a:ext cx="8229600" cy="292608"/>
          </a:xfrm>
          <a:prstGeom prst="rect">
            <a:avLst/>
          </a:prstGeom>
          <a:noFill/>
        </p:spPr>
        <p:txBody>
          <a:bodyPr wrap="square">
            <a:spAutoFit/>
          </a:bodyPr>
          <a:lstStyle/>
          <a:p>
            <a:pPr algn="ctr"/>
            <a:r>
              <a:rPr sz="900" b="1" i="0">
                <a:solidFill>
                  <a:srgbClr val="FFFFFF"/>
                </a:solidFill>
                <a:latin typeface="Calibri"/>
              </a:rPr>
              <a:t>KEY REFERENCES</a:t>
            </a:r>
          </a:p>
        </p:txBody>
      </p:sp>
      <p:sp>
        <p:nvSpPr>
          <p:cNvPr id="14" name="Rectangle 13"/>
          <p:cNvSpPr/>
          <p:nvPr/>
        </p:nvSpPr>
        <p:spPr>
          <a:xfrm>
            <a:off x="3474720" y="3447288"/>
            <a:ext cx="8412480" cy="3474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0" y="344728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3447288"/>
            <a:ext cx="8229600" cy="347472"/>
          </a:xfrm>
          <a:prstGeom prst="rect">
            <a:avLst/>
          </a:prstGeom>
          <a:noFill/>
        </p:spPr>
        <p:txBody>
          <a:bodyPr wrap="square">
            <a:spAutoFit/>
          </a:bodyPr>
          <a:lstStyle/>
          <a:p>
            <a:pPr algn="l"/>
            <a:r>
              <a:rPr sz="780" b="0" i="0">
                <a:solidFill>
                  <a:srgbClr val="1A1A1A"/>
                </a:solidFill>
                <a:latin typeface="Calibri"/>
              </a:rPr>
              <a:t>Stamatopoulos et al. (2020). Option Pricing using Quantum Computers. Quantum, Vol. 4.</a:t>
            </a:r>
          </a:p>
        </p:txBody>
      </p:sp>
      <p:sp>
        <p:nvSpPr>
          <p:cNvPr id="17" name="Rectangle 16"/>
          <p:cNvSpPr/>
          <p:nvPr/>
        </p:nvSpPr>
        <p:spPr>
          <a:xfrm>
            <a:off x="3474720" y="3813048"/>
            <a:ext cx="84124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474720" y="381304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813048"/>
            <a:ext cx="8229600" cy="347472"/>
          </a:xfrm>
          <a:prstGeom prst="rect">
            <a:avLst/>
          </a:prstGeom>
          <a:noFill/>
        </p:spPr>
        <p:txBody>
          <a:bodyPr wrap="square">
            <a:spAutoFit/>
          </a:bodyPr>
          <a:lstStyle/>
          <a:p>
            <a:pPr algn="l"/>
            <a:r>
              <a:rPr sz="780" b="0" i="0">
                <a:solidFill>
                  <a:srgbClr val="1A1A1A"/>
                </a:solidFill>
                <a:latin typeface="Calibri"/>
              </a:rPr>
              <a:t>Egger et al. (2020). Quantum Computing for Finance. IBM Research. arXiv:2012.08499.</a:t>
            </a:r>
          </a:p>
        </p:txBody>
      </p:sp>
      <p:sp>
        <p:nvSpPr>
          <p:cNvPr id="20" name="Rectangle 19"/>
          <p:cNvSpPr/>
          <p:nvPr/>
        </p:nvSpPr>
        <p:spPr>
          <a:xfrm>
            <a:off x="3474720" y="4178808"/>
            <a:ext cx="8412480" cy="3474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74720" y="417880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80" y="4178808"/>
            <a:ext cx="8229600" cy="347472"/>
          </a:xfrm>
          <a:prstGeom prst="rect">
            <a:avLst/>
          </a:prstGeom>
          <a:noFill/>
        </p:spPr>
        <p:txBody>
          <a:bodyPr wrap="square">
            <a:spAutoFit/>
          </a:bodyPr>
          <a:lstStyle/>
          <a:p>
            <a:pPr algn="l"/>
            <a:r>
              <a:rPr sz="780" b="0" i="0">
                <a:solidFill>
                  <a:srgbClr val="1A1A1A"/>
                </a:solidFill>
                <a:latin typeface="Calibri"/>
              </a:rPr>
              <a:t>Woerner &amp; Egger (2019). Quantum Risk Analysis. IBM Research. npj Quantum Information 5:15.</a:t>
            </a:r>
          </a:p>
        </p:txBody>
      </p:sp>
      <p:sp>
        <p:nvSpPr>
          <p:cNvPr id="23" name="Rectangle 22"/>
          <p:cNvSpPr/>
          <p:nvPr/>
        </p:nvSpPr>
        <p:spPr>
          <a:xfrm>
            <a:off x="3474720" y="4544568"/>
            <a:ext cx="84124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0" y="454456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11880" y="4544568"/>
            <a:ext cx="8229600" cy="347472"/>
          </a:xfrm>
          <a:prstGeom prst="rect">
            <a:avLst/>
          </a:prstGeom>
          <a:noFill/>
        </p:spPr>
        <p:txBody>
          <a:bodyPr wrap="square">
            <a:spAutoFit/>
          </a:bodyPr>
          <a:lstStyle/>
          <a:p>
            <a:pPr algn="l"/>
            <a:r>
              <a:rPr sz="780" b="0" i="0">
                <a:solidFill>
                  <a:srgbClr val="1A1A1A"/>
                </a:solidFill>
                <a:latin typeface="Calibri"/>
              </a:rPr>
              <a:t>JPMorgan Chase Global Research (2022). Quantum Computing in Financial Services. J.P. Morgan AI Research.</a:t>
            </a:r>
          </a:p>
        </p:txBody>
      </p:sp>
      <p:sp>
        <p:nvSpPr>
          <p:cNvPr id="26" name="Rectangle 25"/>
          <p:cNvSpPr/>
          <p:nvPr/>
        </p:nvSpPr>
        <p:spPr>
          <a:xfrm>
            <a:off x="3474720" y="4910328"/>
            <a:ext cx="8412480" cy="3474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0" y="491032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80" y="4910328"/>
            <a:ext cx="8229600" cy="347472"/>
          </a:xfrm>
          <a:prstGeom prst="rect">
            <a:avLst/>
          </a:prstGeom>
          <a:noFill/>
        </p:spPr>
        <p:txBody>
          <a:bodyPr wrap="square">
            <a:spAutoFit/>
          </a:bodyPr>
          <a:lstStyle/>
          <a:p>
            <a:pPr algn="l"/>
            <a:r>
              <a:rPr sz="780" b="0" i="0">
                <a:solidFill>
                  <a:srgbClr val="1A1A1A"/>
                </a:solidFill>
                <a:latin typeface="Calibri"/>
              </a:rPr>
              <a:t>Goldman Sachs Quantitative Strategies (2021). Quantum Algorithms for Risk &amp; Portfolio Management. GS QS Report.</a:t>
            </a:r>
          </a:p>
        </p:txBody>
      </p:sp>
      <p:sp>
        <p:nvSpPr>
          <p:cNvPr id="29" name="Rectangle 28"/>
          <p:cNvSpPr/>
          <p:nvPr/>
        </p:nvSpPr>
        <p:spPr>
          <a:xfrm>
            <a:off x="3474720" y="5276088"/>
            <a:ext cx="84124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474720" y="527608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11880" y="5276088"/>
            <a:ext cx="8229600" cy="347472"/>
          </a:xfrm>
          <a:prstGeom prst="rect">
            <a:avLst/>
          </a:prstGeom>
          <a:noFill/>
        </p:spPr>
        <p:txBody>
          <a:bodyPr wrap="square">
            <a:spAutoFit/>
          </a:bodyPr>
          <a:lstStyle/>
          <a:p>
            <a:pPr algn="l"/>
            <a:r>
              <a:rPr sz="780" b="0" i="0">
                <a:solidFill>
                  <a:srgbClr val="1A1A1A"/>
                </a:solidFill>
                <a:latin typeface="Calibri"/>
              </a:rPr>
              <a:t>Rebentrost et al. (2018). Quantum Computational Finance: Monte Carlo Pricing. PRA 98:022321.</a:t>
            </a:r>
          </a:p>
        </p:txBody>
      </p:sp>
      <p:sp>
        <p:nvSpPr>
          <p:cNvPr id="32" name="Rectangle 31"/>
          <p:cNvSpPr/>
          <p:nvPr/>
        </p:nvSpPr>
        <p:spPr>
          <a:xfrm>
            <a:off x="3474720" y="5641848"/>
            <a:ext cx="8412480" cy="347472"/>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0" y="564184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11880" y="5641848"/>
            <a:ext cx="8229600" cy="347472"/>
          </a:xfrm>
          <a:prstGeom prst="rect">
            <a:avLst/>
          </a:prstGeom>
          <a:noFill/>
        </p:spPr>
        <p:txBody>
          <a:bodyPr wrap="square">
            <a:spAutoFit/>
          </a:bodyPr>
          <a:lstStyle/>
          <a:p>
            <a:pPr algn="l"/>
            <a:r>
              <a:rPr sz="780" b="0" i="0">
                <a:solidFill>
                  <a:srgbClr val="1A1A1A"/>
                </a:solidFill>
                <a:latin typeface="Calibri"/>
              </a:rPr>
              <a:t>IBM Quantum (2024). IBM Quantum Development Roadmap 2024–2033. research.ibm.com/quantum-computing.</a:t>
            </a:r>
          </a:p>
        </p:txBody>
      </p:sp>
      <p:sp>
        <p:nvSpPr>
          <p:cNvPr id="35" name="Rectangle 34"/>
          <p:cNvSpPr/>
          <p:nvPr/>
        </p:nvSpPr>
        <p:spPr>
          <a:xfrm>
            <a:off x="3474720" y="6007608"/>
            <a:ext cx="841248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474720" y="6007608"/>
            <a:ext cx="50800" cy="3474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11880" y="6007608"/>
            <a:ext cx="8229600" cy="347472"/>
          </a:xfrm>
          <a:prstGeom prst="rect">
            <a:avLst/>
          </a:prstGeom>
          <a:noFill/>
        </p:spPr>
        <p:txBody>
          <a:bodyPr wrap="square">
            <a:spAutoFit/>
          </a:bodyPr>
          <a:lstStyle/>
          <a:p>
            <a:pPr algn="l"/>
            <a:r>
              <a:rPr sz="780" b="0" i="0">
                <a:solidFill>
                  <a:srgbClr val="1A1A1A"/>
                </a:solidFill>
                <a:latin typeface="Calibri"/>
              </a:rPr>
              <a:t>Bouland et al. (2023). Prospects and Challenges of Quantum Finance. arXiv:2011.06492.</a:t>
            </a:r>
          </a:p>
        </p:txBody>
      </p:sp>
      <p:sp>
        <p:nvSpPr>
          <p:cNvPr id="38" name="TextBox 37"/>
          <p:cNvSpPr txBox="1"/>
          <p:nvPr/>
        </p:nvSpPr>
        <p:spPr>
          <a:xfrm>
            <a:off x="3474720" y="6537960"/>
            <a:ext cx="8229600" cy="256032"/>
          </a:xfrm>
          <a:prstGeom prst="rect">
            <a:avLst/>
          </a:prstGeom>
          <a:noFill/>
        </p:spPr>
        <p:txBody>
          <a:bodyPr wrap="square">
            <a:spAutoFit/>
          </a:bodyPr>
          <a:lstStyle/>
          <a:p>
            <a:pPr algn="ctr"/>
            <a:r>
              <a:rPr sz="800" b="0" i="0">
                <a:solidFill>
                  <a:srgbClr val="555555"/>
                </a:solidFill>
                <a:latin typeface="Calibri"/>
              </a:rPr>
              <a:t>Quantum Finance Advisory  |  June 2026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